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74" r:id="rId4"/>
    <p:sldId id="258" r:id="rId5"/>
    <p:sldId id="259" r:id="rId6"/>
    <p:sldId id="260" r:id="rId7"/>
    <p:sldId id="261" r:id="rId8"/>
    <p:sldId id="262" r:id="rId9"/>
    <p:sldId id="263" r:id="rId10"/>
    <p:sldId id="264" r:id="rId11"/>
    <p:sldId id="265" r:id="rId12"/>
    <p:sldId id="266" r:id="rId13"/>
    <p:sldId id="267" r:id="rId14"/>
    <p:sldId id="268" r:id="rId15"/>
    <p:sldId id="269" r:id="rId16"/>
    <p:sldId id="273"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4452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 30 secondes.
Annoncez la thèse d'emblée, sans préambule. « Nous avons analysé 3,4 millions de commandes. Une seule idée en est ressortie, et elle change la façon de piloter cette activité : vous ne vendez pas des produits, vous vendez une habitude. »
Puis marquez un temps. Ne détaillez pas encore — la démonstration vient ensuite.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CRÉDIBILITÉ — 45 secondes.
Cette diapositive n'est pas là pour impressionner mais pour établir que vous savez de quoi vous parlez. Insistez sur le contrôle d'intégrité : « nous avons vérifié qu'aucune clé n'était orpheline avant de joindre ».
SI ON VOUS INTERROGE SUR LES PARTICULARITÉS : 206 209 valeurs manquantes correspondent exactement au nombre de clients — ce sont les premières commandes, qui n'ont par définition pas de précédente. Et 206 209 commandes sans produit sont les dernières de chaque client, retirées à l'origine comme jeu d'épreuve. Aucune n'est une erreur.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AVEC QUOI — 40 secondes.
Ne lisez pas les quatre cases : donnez la logique. « Chaque bibliothèque a été choisie contre une alternative, pas prise par défaut. »
LE POINT À FAIRE ENTENDRE : Matplotlib plutôt que Seaborn est un choix coûteux — davantage de lignes de code — mais c'est lui qui nous a permis de retirer chaque ornement inutile. Sans ce contrôle, la promesse d'un graphique lisible ne tenait pas.
LE CHIFFRE À CITER : 3,2 Go ramenés à 1,0 Go en imposant les types. Par défaut pandas met tout entier en int64, huit octets par valeur ; un jour de semaine en occupe un seul. Sur 32 millions de lignes, cet écart décide de la faisabilité.
SI ON DEMANDE POURQUOI PAS POLARS : plus rapide, mais moins répandu. Ce code est fait pour être relu et repris — nous avons préféré le standard à la performance.
SI ON DEMANDE POURQUOI PAS UNE BASE DE DONNÉES : une fois typées, les cinq tables tiennent en mémoire. Un SGBD n'aurait rien apporté et aurait ajouté une dépendance à installer.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PIVOT — 30 secondes.
C'est le moment le plus important de la présentation. Laissez le chiffre s'installer avant de parler.
« Six articles sur dix que vous vendez, le client les avait déjà achetés. Votre chiffre d'affaires ne vient pas de la découverte, il vient de la répétition. »
Tout ce qui suit découle de cette phrase — les dix démonstrations qui viennent ne font que l'établir et en tirer les conséquences.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secondes.
« Regardez la ligne du bas : elle est plate. De la deuxième à la quatre-vingtième commande, le panier reste à dix articles. Quinze ans de données ne la font pas bouger. » Puis la seconde : « en revanche, ce qu'il y a dedans se répète de plus en plus — 29 % de rachats au début, plus de 80 % ensuite. »
LA CONCLUSION À ÉNONCER : le panier ne grossit pas, il se fige. Espérer un panier moyen plus gros est donc vain — c'est un objectif que les données déclarent inatteignable.
OBJECTION PROBABLE : « la courbe descend à la fin ». Réponse : oui, de 10,4 à 9,0 après la quarantième commande, sur des effectifs plus faibles. Cela renforce l'argument.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 Le premier article déposé dans le panier est racheté deux fois sur trois. Le vingtième, une fois sur deux. La décroissance est parfaitement régulière. »
L'INTERPRÉTATION : le début du panier, ce sont les courses automatiques — le client ne réfléchit pas. La fin, c'est l'improvisation. C'est là qu'il est encore disponible pour une suggestion.
OBJECTION : « les positions élevées sont-elles fiables ? » Seules celles comptant au moins 20 000 lignes de commande sont tracées.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 Les produits laitiers se rachètent dans deux tiers des cas, l'hygiène dans un tiers. C'est un rapport de un à deux, et il est structurel : on consomme du lait tous les jours, pas du shampoing. »
LA CONSÉQUENCE : leur appliquer le même objectif de fidélisation n'a pas de sens. C'est une erreur de pilotage courante, et elle se corrige sans rien investir.
SI ON DEMANDE OÙ EST LE RAYON « NON RENSEIGNÉ » : écarté volontairement. Ce sont 1 258 produits non classés — liquide vaisselle, pommes, stylos — dont le taux moyen ne décrit aucun comportement. Ils restent dans les totaux, où ils pèsent 0,21 %.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 Une référence sur dix est bio. Mais trois articles vendus sur dix le sont. Et ces produits se rachètent 6,6 points au-dessus du reste. »
LA FORMULE À RETENIR : une référence bio travaille trois fois plus qu'une référence ordinaire. Ce n'est pas une niche, c'est un moteur de fidélité sous-exploité.
RÉSERVE À ANNONCER VOUS-MÊME : nous repérons le bio par le mot « organic » dans le libellé. C'est une approximation, mais l'écart est trop marqué pour tenir à ce biais. Et attention : nous constatons une association, pas une causalité.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 Cette carte croise le jour et l'heure. Deux foyers apparaissent, nettement séparés : le lundi vers dix heures, et le dimanche début d'après-midi. »
L'INTERPRÉTATION : ce ne sont pas les mêmes courses. L'une ressemble au réapprovisionnement de semaine, l'autre à la course familiale. Une communication du dimanche ne parle pas au client du lundi.
LE PIÈGE À ÉVITER : dimensionner la logistique sur la moyenne. Aucun client ne commande à l'heure moyenne.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 Le dimanche, les paniers de un à cinq articles tombent de 35 % à 25 %, et ceux de onze à vingt montent de 25 % à 33 %. »
LA NUANCE QUI COMPTE : ce n'est pas une hausse générale, c'est un transfert. Les mêmes clients font moins de courses d'appoint et davantage de vraies courses. Le dire ainsi vaut mieux que « le panier moyen augmente ».
SI ON DEMANDE POURQUOI PAS UNE MOYENNE : parce qu'elle masque la nature de l'effet. Elle passe de 9,3 à 11,1, ce qui suggère une hausse uniforme — les tranches montrent un déplacement.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secondes.
« On s'attendrait à ce que le lait revienne plus vite que les pâtes. Ce n'est pas le cas : entre l'allée la plus rapide et la plus lente, il n'y a que 2,7 jours d'écart. »
LA CONCLUSION : le client ne commande pas quand il manque de lait. Il rachète du lait quand il fait ses courses.
À DIRE AVANT QU'ON LE DEMANDE : notre première analyse utilisait la médiane et concluait à une platitude parfaite. Or cette variable ne prend que des valeurs entières : la médiane tombait toujours sur 7 ou 8. C'était un artefact. La moyenne révèle l'écart réel. RACONTEZ CETTE ERREUR, ELLE VOUS SERT — elle prouve que vous vérifiez.</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 La composition du panier se déforme avec l'ancienneté. Certains rayons gagnent du terrain chez les clients installés, d'autres reculent après la première commande. »
HONNÊTETÉ À ASSUMER : les écarts sont modestes — un à deux points. C'est une dérive lente, pas une substitution. Dites-le vous-même, cela vous crédibilise.
LA CONSÉQUENCE OPÉRATIONNELLE RESTE VALABLE : les deux missions n'appellent ni les mêmes rayons ni les mêmes outils.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secondes — C'EST VOTRE MEILLEURE DIAPOSITIVE.
« Nous avons cherché quels produits s'achètent ensemble. Le comptage brut ne dit rien : il classe par popularité et met en tête bananes et fraises, ce qui est une tautologie. »
« Nous avons donc calculé le lift : combien de fois plus souvent que le hasard. Et là, les couples changent complètement. Jalapeños et coriandre. Coriandre et oignon rouge. Citrons verts et coriandre. Ce sont des RECETTES. »
LA RÉVÉLATION : à côté de la routine hebdomadaire, il existe un achat d'intention — « ce soir je cuisine tel plat ». Et puisque le panier ne grossit jamais, c'est le seul canal mesuré par lequel une nouveauté peut y entrer.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 Si ce mode existe, il doit laisser une trace inverse : des produits très vendus mais rarement rachetés. La voici. »
« Thym, concentré de tomate, courge butternut, huile d'olive, gingembre, échalote. Ce sont des ingrédients, pas des produits de base. Tout le monde en achète un jour, personne n'en rachète chaque semaine. »
LE RENVERSEMENT À FAIRE ENTENDRE : ce ne sont pas des échecs. Chercher à augmenter leur réachat serait une erreur — ils ne fonctionnent pas ainsi. Il faut les traiter comme des portes d'entrée vers une recette.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MOMENT DE LA VENTE — 90 secondes.
Ralentissez. C'est ce que le jury doit retenir.
Énoncez les quatre décisions dans l'ordre, en rattachant chacune à sa démonstration : « la première découle du graphique 1 », etc. Cela montre que rien n'est affirmé sans preuve.
INSISTEZ SUR L'ORDRE : elles sont classées par rendement attendu, pas par facilité. La première est la plus rentable parce qu'elle agit sur la seule fenêtre où le comportement est encore malléable.
SI ON DEMANDE LE COÛT : les trois premières sont des réallocations de budget existant, pas des dépenses nouvelles. Seule la quatrième demande un développement.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 20 secondes.
Revenez à la phrase d'ouverture. La boucle se referme, et c'est elle que le jury emportera.
« Nous avons commencé en disant que vous vendiez une habitude. Nous espérons vous avoir montré que c'est mesurable, et surtout que c'est actionnable. »
Puis marquez un silence et proposez les questions. Ne meublez pas.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5A62"/>
        </a:solidFill>
        <a:effectLst/>
      </p:bgPr>
    </p:bg>
    <p:spTree>
      <p:nvGrpSpPr>
        <p:cNvPr id="1" name=""/>
        <p:cNvGrpSpPr/>
        <p:nvPr/>
      </p:nvGrpSpPr>
      <p:grpSpPr>
        <a:xfrm>
          <a:off x="0" y="0"/>
          <a:ext cx="0" cy="0"/>
          <a:chOff x="0" y="0"/>
          <a:chExt cx="0" cy="0"/>
        </a:xfrm>
      </p:grpSpPr>
      <p:sp>
        <p:nvSpPr>
          <p:cNvPr id="2" name="Text 0"/>
          <p:cNvSpPr txBox="1"/>
          <p:nvPr/>
        </p:nvSpPr>
        <p:spPr>
          <a:xfrm>
            <a:off x="594360" y="1371600"/>
            <a:ext cx="10972800" cy="274320"/>
          </a:xfrm>
          <a:prstGeom prst="rect">
            <a:avLst/>
          </a:prstGeom>
          <a:noFill/>
          <a:ln/>
        </p:spPr>
        <p:txBody>
          <a:bodyPr wrap="square" lIns="0" tIns="0" rIns="0" bIns="0" rtlCol="0" anchor="ctr"/>
          <a:lstStyle/>
          <a:p>
            <a:pPr marL="0" indent="0">
              <a:buNone/>
            </a:pPr>
            <a:r>
              <a:rPr lang="en-US" sz="1100" b="1" kern="0" spc="180" dirty="0">
                <a:solidFill>
                  <a:srgbClr val="8FCDD4"/>
                </a:solidFill>
                <a:latin typeface="Calibri" pitchFamily="34" charset="0"/>
                <a:ea typeface="Calibri" pitchFamily="34" charset="-122"/>
                <a:cs typeface="Calibri" pitchFamily="34" charset="-120"/>
              </a:rPr>
              <a:t>T-DAT-600 · ANALYSE DE DONNÉES · JOJA</a:t>
            </a:r>
            <a:endParaRPr lang="en-US" sz="1100" dirty="0"/>
          </a:p>
        </p:txBody>
      </p:sp>
      <p:sp>
        <p:nvSpPr>
          <p:cNvPr id="3" name="Text 1"/>
          <p:cNvSpPr txBox="1"/>
          <p:nvPr/>
        </p:nvSpPr>
        <p:spPr>
          <a:xfrm>
            <a:off x="594360" y="1874520"/>
            <a:ext cx="10241280" cy="1920240"/>
          </a:xfrm>
          <a:prstGeom prst="rect">
            <a:avLst/>
          </a:prstGeom>
          <a:noFill/>
          <a:ln/>
        </p:spPr>
        <p:txBody>
          <a:bodyPr wrap="square" lIns="0" tIns="0" rIns="0" bIns="0" rtlCol="0" anchor="ctr"/>
          <a:lstStyle/>
          <a:p>
            <a:pPr marL="0" indent="0">
              <a:lnSpc>
                <a:spcPct val="102000"/>
              </a:lnSpc>
              <a:buNone/>
            </a:pPr>
            <a:r>
              <a:rPr lang="en-US" sz="4200" b="1" dirty="0">
                <a:solidFill>
                  <a:srgbClr val="FFFFFF"/>
                </a:solidFill>
                <a:latin typeface="Cambria" pitchFamily="34" charset="0"/>
                <a:ea typeface="Cambria" pitchFamily="34" charset="-122"/>
                <a:cs typeface="Cambria" pitchFamily="34" charset="-120"/>
              </a:rPr>
              <a:t>Vous ne vendez pas des produits.</a:t>
            </a:r>
            <a:endParaRPr lang="en-US" sz="4200" dirty="0"/>
          </a:p>
          <a:p>
            <a:pPr marL="0" indent="0">
              <a:lnSpc>
                <a:spcPct val="102000"/>
              </a:lnSpc>
              <a:buNone/>
            </a:pPr>
            <a:r>
              <a:rPr lang="en-US" sz="4200" b="1" dirty="0">
                <a:solidFill>
                  <a:srgbClr val="7FD3DB"/>
                </a:solidFill>
                <a:latin typeface="Cambria" pitchFamily="34" charset="0"/>
                <a:ea typeface="Cambria" pitchFamily="34" charset="-122"/>
                <a:cs typeface="Cambria" pitchFamily="34" charset="-120"/>
              </a:rPr>
              <a:t>Vous vendez une habitude.</a:t>
            </a:r>
            <a:endParaRPr lang="en-US" sz="4200" dirty="0"/>
          </a:p>
        </p:txBody>
      </p:sp>
      <p:sp>
        <p:nvSpPr>
          <p:cNvPr id="4" name="Text 2"/>
          <p:cNvSpPr txBox="1"/>
          <p:nvPr/>
        </p:nvSpPr>
        <p:spPr>
          <a:xfrm>
            <a:off x="594360" y="4023360"/>
            <a:ext cx="7863840" cy="822960"/>
          </a:xfrm>
          <a:prstGeom prst="rect">
            <a:avLst/>
          </a:prstGeom>
          <a:noFill/>
          <a:ln/>
        </p:spPr>
        <p:txBody>
          <a:bodyPr wrap="square" lIns="0" tIns="0" rIns="0" bIns="0" rtlCol="0" anchor="ctr"/>
          <a:lstStyle/>
          <a:p>
            <a:pPr marL="0" indent="0">
              <a:lnSpc>
                <a:spcPct val="115000"/>
              </a:lnSpc>
              <a:buNone/>
            </a:pPr>
            <a:r>
              <a:rPr lang="en-US" sz="1500" dirty="0">
                <a:solidFill>
                  <a:srgbClr val="C3DDE0"/>
                </a:solidFill>
                <a:latin typeface="Calibri" pitchFamily="34" charset="0"/>
                <a:ea typeface="Calibri" pitchFamily="34" charset="-122"/>
                <a:cs typeface="Calibri" pitchFamily="34" charset="-120"/>
              </a:rPr>
              <a:t>Ce que 3,4 millions de paniers nous ont appris — et les quatre décisions que nous vous recommandons.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CE SUR QUOI NOUS NOUS APPUYONS</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Quatre ans de courses, cinq fichiers, aucune approximation</a:t>
            </a:r>
            <a:endParaRPr lang="en-US" sz="2700" dirty="0"/>
          </a:p>
        </p:txBody>
      </p:sp>
      <p:sp>
        <p:nvSpPr>
          <p:cNvPr id="4" name="Shape 2"/>
          <p:cNvSpPr/>
          <p:nvPr/>
        </p:nvSpPr>
        <p:spPr>
          <a:xfrm>
            <a:off x="594360" y="1600200"/>
            <a:ext cx="2560320" cy="1783080"/>
          </a:xfrm>
          <a:prstGeom prst="roundRect">
            <a:avLst>
              <a:gd name="adj" fmla="val 3077"/>
            </a:avLst>
          </a:prstGeom>
          <a:solidFill>
            <a:srgbClr val="EAF3F4"/>
          </a:solidFill>
          <a:ln w="12700">
            <a:solidFill>
              <a:srgbClr val="D3E5E7"/>
            </a:solidFill>
            <a:prstDash val="solid"/>
          </a:ln>
        </p:spPr>
        <p:txBody>
          <a:bodyPr/>
          <a:lstStyle/>
          <a:p>
            <a:endParaRPr lang="fr-FR"/>
          </a:p>
        </p:txBody>
      </p:sp>
      <p:sp>
        <p:nvSpPr>
          <p:cNvPr id="5" name="Text 3"/>
          <p:cNvSpPr txBox="1"/>
          <p:nvPr/>
        </p:nvSpPr>
        <p:spPr>
          <a:xfrm>
            <a:off x="822960" y="1874520"/>
            <a:ext cx="2103120" cy="685800"/>
          </a:xfrm>
          <a:prstGeom prst="rect">
            <a:avLst/>
          </a:prstGeom>
          <a:noFill/>
          <a:ln/>
        </p:spPr>
        <p:txBody>
          <a:bodyPr wrap="square" lIns="0" tIns="0" rIns="0" bIns="0" rtlCol="0" anchor="ctr"/>
          <a:lstStyle/>
          <a:p>
            <a:pPr marL="0" indent="0">
              <a:buNone/>
            </a:pPr>
            <a:r>
              <a:rPr lang="en-US" sz="3000" b="1" dirty="0">
                <a:solidFill>
                  <a:srgbClr val="0E7C86"/>
                </a:solidFill>
                <a:latin typeface="Cambria" pitchFamily="34" charset="0"/>
                <a:ea typeface="Cambria" pitchFamily="34" charset="-122"/>
                <a:cs typeface="Cambria" pitchFamily="34" charset="-120"/>
              </a:rPr>
              <a:t>3,42 M</a:t>
            </a:r>
            <a:endParaRPr lang="en-US" sz="3000" dirty="0"/>
          </a:p>
        </p:txBody>
      </p:sp>
      <p:sp>
        <p:nvSpPr>
          <p:cNvPr id="6" name="Text 4"/>
          <p:cNvSpPr txBox="1"/>
          <p:nvPr/>
        </p:nvSpPr>
        <p:spPr>
          <a:xfrm>
            <a:off x="822960" y="2606040"/>
            <a:ext cx="2103120" cy="548640"/>
          </a:xfrm>
          <a:prstGeom prst="rect">
            <a:avLst/>
          </a:prstGeom>
          <a:noFill/>
          <a:ln/>
        </p:spPr>
        <p:txBody>
          <a:bodyPr wrap="square" lIns="0" tIns="0" rIns="0" bIns="0" rtlCol="0" anchor="t"/>
          <a:lstStyle/>
          <a:p>
            <a:pPr marL="0" indent="0">
              <a:buNone/>
            </a:pPr>
            <a:r>
              <a:rPr lang="en-US" sz="1200" dirty="0">
                <a:solidFill>
                  <a:srgbClr val="5D6B75"/>
                </a:solidFill>
                <a:latin typeface="Calibri" pitchFamily="34" charset="0"/>
                <a:ea typeface="Calibri" pitchFamily="34" charset="-122"/>
                <a:cs typeface="Calibri" pitchFamily="34" charset="-120"/>
              </a:rPr>
              <a:t>commandes analysées</a:t>
            </a:r>
            <a:endParaRPr lang="en-US" sz="1200" dirty="0"/>
          </a:p>
        </p:txBody>
      </p:sp>
      <p:sp>
        <p:nvSpPr>
          <p:cNvPr id="7" name="Shape 5"/>
          <p:cNvSpPr/>
          <p:nvPr/>
        </p:nvSpPr>
        <p:spPr>
          <a:xfrm>
            <a:off x="3383280" y="1600200"/>
            <a:ext cx="2560320" cy="1783080"/>
          </a:xfrm>
          <a:prstGeom prst="roundRect">
            <a:avLst>
              <a:gd name="adj" fmla="val 3077"/>
            </a:avLst>
          </a:prstGeom>
          <a:solidFill>
            <a:srgbClr val="EAF3F4"/>
          </a:solidFill>
          <a:ln w="12700">
            <a:solidFill>
              <a:srgbClr val="D3E5E7"/>
            </a:solidFill>
            <a:prstDash val="solid"/>
          </a:ln>
        </p:spPr>
        <p:txBody>
          <a:bodyPr/>
          <a:lstStyle/>
          <a:p>
            <a:endParaRPr lang="fr-FR"/>
          </a:p>
        </p:txBody>
      </p:sp>
      <p:sp>
        <p:nvSpPr>
          <p:cNvPr id="8" name="Text 6"/>
          <p:cNvSpPr txBox="1"/>
          <p:nvPr/>
        </p:nvSpPr>
        <p:spPr>
          <a:xfrm>
            <a:off x="3611880" y="1874520"/>
            <a:ext cx="2103120" cy="685800"/>
          </a:xfrm>
          <a:prstGeom prst="rect">
            <a:avLst/>
          </a:prstGeom>
          <a:noFill/>
          <a:ln/>
        </p:spPr>
        <p:txBody>
          <a:bodyPr wrap="square" lIns="0" tIns="0" rIns="0" bIns="0" rtlCol="0" anchor="ctr"/>
          <a:lstStyle/>
          <a:p>
            <a:pPr marL="0" indent="0">
              <a:buNone/>
            </a:pPr>
            <a:r>
              <a:rPr lang="en-US" sz="3000" b="1" dirty="0">
                <a:solidFill>
                  <a:srgbClr val="0E7C86"/>
                </a:solidFill>
                <a:latin typeface="Cambria" pitchFamily="34" charset="0"/>
                <a:ea typeface="Cambria" pitchFamily="34" charset="-122"/>
                <a:cs typeface="Cambria" pitchFamily="34" charset="-120"/>
              </a:rPr>
              <a:t>206 209</a:t>
            </a:r>
            <a:endParaRPr lang="en-US" sz="3000" dirty="0"/>
          </a:p>
        </p:txBody>
      </p:sp>
      <p:sp>
        <p:nvSpPr>
          <p:cNvPr id="9" name="Text 7"/>
          <p:cNvSpPr txBox="1"/>
          <p:nvPr/>
        </p:nvSpPr>
        <p:spPr>
          <a:xfrm>
            <a:off x="3611880" y="2606040"/>
            <a:ext cx="2103120" cy="548640"/>
          </a:xfrm>
          <a:prstGeom prst="rect">
            <a:avLst/>
          </a:prstGeom>
          <a:noFill/>
          <a:ln/>
        </p:spPr>
        <p:txBody>
          <a:bodyPr wrap="square" lIns="0" tIns="0" rIns="0" bIns="0" rtlCol="0" anchor="t"/>
          <a:lstStyle/>
          <a:p>
            <a:pPr marL="0" indent="0">
              <a:buNone/>
            </a:pPr>
            <a:r>
              <a:rPr lang="en-US" sz="1200" dirty="0">
                <a:solidFill>
                  <a:srgbClr val="5D6B75"/>
                </a:solidFill>
                <a:latin typeface="Calibri" pitchFamily="34" charset="0"/>
                <a:ea typeface="Calibri" pitchFamily="34" charset="-122"/>
                <a:cs typeface="Calibri" pitchFamily="34" charset="-120"/>
              </a:rPr>
              <a:t>clients suivis</a:t>
            </a:r>
            <a:endParaRPr lang="en-US" sz="1200" dirty="0"/>
          </a:p>
        </p:txBody>
      </p:sp>
      <p:sp>
        <p:nvSpPr>
          <p:cNvPr id="10" name="Shape 8"/>
          <p:cNvSpPr/>
          <p:nvPr/>
        </p:nvSpPr>
        <p:spPr>
          <a:xfrm>
            <a:off x="6172200" y="1600200"/>
            <a:ext cx="2560320" cy="1783080"/>
          </a:xfrm>
          <a:prstGeom prst="roundRect">
            <a:avLst>
              <a:gd name="adj" fmla="val 3077"/>
            </a:avLst>
          </a:prstGeom>
          <a:solidFill>
            <a:srgbClr val="EAF3F4"/>
          </a:solidFill>
          <a:ln w="12700">
            <a:solidFill>
              <a:srgbClr val="D3E5E7"/>
            </a:solidFill>
            <a:prstDash val="solid"/>
          </a:ln>
        </p:spPr>
        <p:txBody>
          <a:bodyPr/>
          <a:lstStyle/>
          <a:p>
            <a:endParaRPr lang="fr-FR"/>
          </a:p>
        </p:txBody>
      </p:sp>
      <p:sp>
        <p:nvSpPr>
          <p:cNvPr id="11" name="Text 9"/>
          <p:cNvSpPr txBox="1"/>
          <p:nvPr/>
        </p:nvSpPr>
        <p:spPr>
          <a:xfrm>
            <a:off x="6400800" y="1874520"/>
            <a:ext cx="2103120" cy="685800"/>
          </a:xfrm>
          <a:prstGeom prst="rect">
            <a:avLst/>
          </a:prstGeom>
          <a:noFill/>
          <a:ln/>
        </p:spPr>
        <p:txBody>
          <a:bodyPr wrap="square" lIns="0" tIns="0" rIns="0" bIns="0" rtlCol="0" anchor="ctr"/>
          <a:lstStyle/>
          <a:p>
            <a:pPr marL="0" indent="0">
              <a:buNone/>
            </a:pPr>
            <a:r>
              <a:rPr lang="en-US" sz="3000" b="1" dirty="0">
                <a:solidFill>
                  <a:srgbClr val="0E7C86"/>
                </a:solidFill>
                <a:latin typeface="Cambria" pitchFamily="34" charset="0"/>
                <a:ea typeface="Cambria" pitchFamily="34" charset="-122"/>
                <a:cs typeface="Cambria" pitchFamily="34" charset="-120"/>
              </a:rPr>
              <a:t>32,4 M</a:t>
            </a:r>
            <a:endParaRPr lang="en-US" sz="3000" dirty="0"/>
          </a:p>
        </p:txBody>
      </p:sp>
      <p:sp>
        <p:nvSpPr>
          <p:cNvPr id="12" name="Text 10"/>
          <p:cNvSpPr txBox="1"/>
          <p:nvPr/>
        </p:nvSpPr>
        <p:spPr>
          <a:xfrm>
            <a:off x="6400800" y="2606040"/>
            <a:ext cx="2103120" cy="548640"/>
          </a:xfrm>
          <a:prstGeom prst="rect">
            <a:avLst/>
          </a:prstGeom>
          <a:noFill/>
          <a:ln/>
        </p:spPr>
        <p:txBody>
          <a:bodyPr wrap="square" lIns="0" tIns="0" rIns="0" bIns="0" rtlCol="0" anchor="t"/>
          <a:lstStyle/>
          <a:p>
            <a:pPr marL="0" indent="0">
              <a:buNone/>
            </a:pPr>
            <a:r>
              <a:rPr lang="en-US" sz="1200" dirty="0">
                <a:solidFill>
                  <a:srgbClr val="5D6B75"/>
                </a:solidFill>
                <a:latin typeface="Calibri" pitchFamily="34" charset="0"/>
                <a:ea typeface="Calibri" pitchFamily="34" charset="-122"/>
                <a:cs typeface="Calibri" pitchFamily="34" charset="-120"/>
              </a:rPr>
              <a:t>lignes de produits</a:t>
            </a:r>
            <a:endParaRPr lang="en-US" sz="1200" dirty="0"/>
          </a:p>
        </p:txBody>
      </p:sp>
      <p:sp>
        <p:nvSpPr>
          <p:cNvPr id="13" name="Shape 11"/>
          <p:cNvSpPr/>
          <p:nvPr/>
        </p:nvSpPr>
        <p:spPr>
          <a:xfrm>
            <a:off x="8961120" y="1600200"/>
            <a:ext cx="2560320" cy="1783080"/>
          </a:xfrm>
          <a:prstGeom prst="roundRect">
            <a:avLst>
              <a:gd name="adj" fmla="val 3077"/>
            </a:avLst>
          </a:prstGeom>
          <a:solidFill>
            <a:srgbClr val="EAF3F4"/>
          </a:solidFill>
          <a:ln w="12700">
            <a:solidFill>
              <a:srgbClr val="D3E5E7"/>
            </a:solidFill>
            <a:prstDash val="solid"/>
          </a:ln>
        </p:spPr>
        <p:txBody>
          <a:bodyPr/>
          <a:lstStyle/>
          <a:p>
            <a:endParaRPr lang="fr-FR"/>
          </a:p>
        </p:txBody>
      </p:sp>
      <p:sp>
        <p:nvSpPr>
          <p:cNvPr id="14" name="Text 12"/>
          <p:cNvSpPr txBox="1"/>
          <p:nvPr/>
        </p:nvSpPr>
        <p:spPr>
          <a:xfrm>
            <a:off x="9189720" y="1874520"/>
            <a:ext cx="2103120" cy="685800"/>
          </a:xfrm>
          <a:prstGeom prst="rect">
            <a:avLst/>
          </a:prstGeom>
          <a:noFill/>
          <a:ln/>
        </p:spPr>
        <p:txBody>
          <a:bodyPr wrap="square" lIns="0" tIns="0" rIns="0" bIns="0" rtlCol="0" anchor="ctr"/>
          <a:lstStyle/>
          <a:p>
            <a:pPr marL="0" indent="0">
              <a:buNone/>
            </a:pPr>
            <a:r>
              <a:rPr lang="en-US" sz="3000" b="1" dirty="0">
                <a:solidFill>
                  <a:srgbClr val="0E7C86"/>
                </a:solidFill>
                <a:latin typeface="Cambria" pitchFamily="34" charset="0"/>
                <a:ea typeface="Cambria" pitchFamily="34" charset="-122"/>
                <a:cs typeface="Cambria" pitchFamily="34" charset="-120"/>
              </a:rPr>
              <a:t>49 688</a:t>
            </a:r>
            <a:endParaRPr lang="en-US" sz="3000" dirty="0"/>
          </a:p>
        </p:txBody>
      </p:sp>
      <p:sp>
        <p:nvSpPr>
          <p:cNvPr id="15" name="Text 13"/>
          <p:cNvSpPr txBox="1"/>
          <p:nvPr/>
        </p:nvSpPr>
        <p:spPr>
          <a:xfrm>
            <a:off x="9189720" y="2606040"/>
            <a:ext cx="2103120" cy="548640"/>
          </a:xfrm>
          <a:prstGeom prst="rect">
            <a:avLst/>
          </a:prstGeom>
          <a:noFill/>
          <a:ln/>
        </p:spPr>
        <p:txBody>
          <a:bodyPr wrap="square" lIns="0" tIns="0" rIns="0" bIns="0" rtlCol="0" anchor="t"/>
          <a:lstStyle/>
          <a:p>
            <a:pPr marL="0" indent="0">
              <a:buNone/>
            </a:pPr>
            <a:r>
              <a:rPr lang="en-US" sz="1200" dirty="0">
                <a:solidFill>
                  <a:srgbClr val="5D6B75"/>
                </a:solidFill>
                <a:latin typeface="Calibri" pitchFamily="34" charset="0"/>
                <a:ea typeface="Calibri" pitchFamily="34" charset="-122"/>
                <a:cs typeface="Calibri" pitchFamily="34" charset="-120"/>
              </a:rPr>
              <a:t>références au catalogue</a:t>
            </a:r>
            <a:endParaRPr lang="en-US" sz="1200" dirty="0"/>
          </a:p>
        </p:txBody>
      </p:sp>
      <p:sp>
        <p:nvSpPr>
          <p:cNvPr id="16" name="Text 14"/>
          <p:cNvSpPr txBox="1"/>
          <p:nvPr/>
        </p:nvSpPr>
        <p:spPr>
          <a:xfrm>
            <a:off x="594360" y="3794760"/>
            <a:ext cx="10424160" cy="1005840"/>
          </a:xfrm>
          <a:prstGeom prst="rect">
            <a:avLst/>
          </a:prstGeom>
          <a:noFill/>
          <a:ln/>
        </p:spPr>
        <p:txBody>
          <a:bodyPr wrap="square" lIns="0" tIns="0" rIns="0" bIns="0" rtlCol="0" anchor="ctr"/>
          <a:lstStyle/>
          <a:p>
            <a:pPr marL="0" indent="0">
              <a:lnSpc>
                <a:spcPct val="120000"/>
              </a:lnSpc>
              <a:buNone/>
            </a:pPr>
            <a:r>
              <a:rPr lang="en-US" sz="1350" dirty="0">
                <a:solidFill>
                  <a:srgbClr val="5D6B75"/>
                </a:solidFill>
                <a:latin typeface="Calibri" pitchFamily="34" charset="0"/>
                <a:ea typeface="Calibri" pitchFamily="34" charset="-122"/>
                <a:cs typeface="Calibri" pitchFamily="34" charset="-120"/>
              </a:rPr>
              <a:t>Cinq tables reliées par des clés, fusionnées en une base unique après contrôle d'intégrité. Deux particularités identifiées et traitées : les premières commandes n'ont pas d'historique, et la dernière commande de chaque client n'est pas documentée.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p:spPr>
        <p:txBody>
          <a:bodyPr wrap="square" lIns="0" tIns="0" rIns="0" bIns="0" anchor="ctr">
            <a:spAutoFit/>
          </a:bodyPr>
          <a:lstStyle/>
          <a:p>
            <a:r>
              <a:rPr sz="1050" b="1" spc="160">
                <a:solidFill>
                  <a:srgbClr val="0E7C86"/>
                </a:solidFill>
                <a:latin typeface="Calibri"/>
              </a:rPr>
              <a:t>AVEC QUOI NOUS AVONS TRAVAILLÉ</a:t>
            </a:r>
          </a:p>
        </p:txBody>
      </p:sp>
      <p:sp>
        <p:nvSpPr>
          <p:cNvPr id="3" name="Text 1"/>
          <p:cNvSpPr txBox="1"/>
          <p:nvPr/>
        </p:nvSpPr>
        <p:spPr>
          <a:xfrm>
            <a:off x="594360" y="384048"/>
            <a:ext cx="10972800" cy="658368"/>
          </a:xfrm>
          <a:prstGeom prst="rect">
            <a:avLst/>
          </a:prstGeom>
          <a:noFill/>
        </p:spPr>
        <p:txBody>
          <a:bodyPr wrap="square" lIns="0" tIns="0" rIns="0" bIns="0" anchor="ctr">
            <a:spAutoFit/>
          </a:bodyPr>
          <a:lstStyle/>
          <a:p>
            <a:r>
              <a:rPr sz="2700" b="1">
                <a:solidFill>
                  <a:srgbClr val="16232B"/>
                </a:solidFill>
                <a:latin typeface="Cambria"/>
              </a:rPr>
              <a:t>Quatre bibliothèques, un choix assumé pour chacune</a:t>
            </a:r>
          </a:p>
        </p:txBody>
      </p:sp>
      <p:sp>
        <p:nvSpPr>
          <p:cNvPr id="4" name="Shape 0"/>
          <p:cNvSpPr/>
          <p:nvPr/>
        </p:nvSpPr>
        <p:spPr>
          <a:xfrm>
            <a:off x="594360" y="1554480"/>
            <a:ext cx="5358384" cy="1325880"/>
          </a:xfrm>
          <a:prstGeom prst="roundRect">
            <a:avLst>
              <a:gd name="adj" fmla="val 3077"/>
            </a:avLst>
          </a:prstGeom>
          <a:solidFill>
            <a:srgbClr val="EAF3F4"/>
          </a:solidFill>
          <a:ln w="12700">
            <a:solidFill>
              <a:srgbClr val="D3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2"/>
          <p:cNvSpPr txBox="1"/>
          <p:nvPr/>
        </p:nvSpPr>
        <p:spPr>
          <a:xfrm>
            <a:off x="868680" y="1737360"/>
            <a:ext cx="4809744" cy="365760"/>
          </a:xfrm>
          <a:prstGeom prst="rect">
            <a:avLst/>
          </a:prstGeom>
          <a:noFill/>
        </p:spPr>
        <p:txBody>
          <a:bodyPr wrap="square" lIns="0" tIns="0" rIns="0" bIns="0" anchor="t">
            <a:spAutoFit/>
          </a:bodyPr>
          <a:lstStyle/>
          <a:p>
            <a:r>
              <a:rPr sz="1800" b="1">
                <a:solidFill>
                  <a:srgbClr val="0E7C86"/>
                </a:solidFill>
                <a:latin typeface="Cambria"/>
              </a:rPr>
              <a:t>pandas</a:t>
            </a:r>
            <a:r>
              <a:rPr sz="1050" b="0">
                <a:solidFill>
                  <a:srgbClr val="5D6B75"/>
                </a:solidFill>
                <a:latin typeface="Calibri"/>
              </a:rPr>
              <a:t>   3.0</a:t>
            </a:r>
          </a:p>
        </p:txBody>
      </p:sp>
      <p:sp>
        <p:nvSpPr>
          <p:cNvPr id="6" name="Text 3"/>
          <p:cNvSpPr txBox="1"/>
          <p:nvPr/>
        </p:nvSpPr>
        <p:spPr>
          <a:xfrm>
            <a:off x="868680" y="2231136"/>
            <a:ext cx="4809744" cy="411479"/>
          </a:xfrm>
          <a:prstGeom prst="rect">
            <a:avLst/>
          </a:prstGeom>
          <a:noFill/>
        </p:spPr>
        <p:txBody>
          <a:bodyPr wrap="square" lIns="0" tIns="0" rIns="0" bIns="0" anchor="t">
            <a:spAutoFit/>
          </a:bodyPr>
          <a:lstStyle/>
          <a:p>
            <a:pPr>
              <a:lnSpc>
                <a:spcPct val="118000"/>
              </a:lnSpc>
            </a:pPr>
            <a:r>
              <a:rPr sz="1250" b="0">
                <a:solidFill>
                  <a:srgbClr val="5D6B75"/>
                </a:solidFill>
                <a:latin typeface="Calibri"/>
              </a:rPr>
              <a:t>Manipuler 32 millions de lignes. Jointures et regroupements natifs, exécutés en C. Polars irait plus vite ; pandas est le standard.</a:t>
            </a:r>
          </a:p>
        </p:txBody>
      </p:sp>
      <p:sp>
        <p:nvSpPr>
          <p:cNvPr id="7" name="Shape 1"/>
          <p:cNvSpPr/>
          <p:nvPr/>
        </p:nvSpPr>
        <p:spPr>
          <a:xfrm>
            <a:off x="6236208" y="1554480"/>
            <a:ext cx="5358384" cy="1325880"/>
          </a:xfrm>
          <a:prstGeom prst="roundRect">
            <a:avLst>
              <a:gd name="adj" fmla="val 3077"/>
            </a:avLst>
          </a:prstGeom>
          <a:solidFill>
            <a:srgbClr val="EAF3F4"/>
          </a:solidFill>
          <a:ln w="12700">
            <a:solidFill>
              <a:srgbClr val="D3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 4"/>
          <p:cNvSpPr txBox="1"/>
          <p:nvPr/>
        </p:nvSpPr>
        <p:spPr>
          <a:xfrm>
            <a:off x="6510528" y="1737360"/>
            <a:ext cx="4809744" cy="365760"/>
          </a:xfrm>
          <a:prstGeom prst="rect">
            <a:avLst/>
          </a:prstGeom>
          <a:noFill/>
        </p:spPr>
        <p:txBody>
          <a:bodyPr wrap="square" lIns="0" tIns="0" rIns="0" bIns="0" anchor="t">
            <a:spAutoFit/>
          </a:bodyPr>
          <a:lstStyle/>
          <a:p>
            <a:r>
              <a:rPr sz="1800" b="1" dirty="0">
                <a:solidFill>
                  <a:srgbClr val="0E7C86"/>
                </a:solidFill>
                <a:latin typeface="Cambria"/>
              </a:rPr>
              <a:t>NumPy</a:t>
            </a:r>
            <a:r>
              <a:rPr sz="1050" b="0" dirty="0">
                <a:solidFill>
                  <a:srgbClr val="5D6B75"/>
                </a:solidFill>
                <a:latin typeface="Calibri"/>
              </a:rPr>
              <a:t>   2.5</a:t>
            </a:r>
          </a:p>
        </p:txBody>
      </p:sp>
      <p:sp>
        <p:nvSpPr>
          <p:cNvPr id="9" name="Text 5"/>
          <p:cNvSpPr txBox="1"/>
          <p:nvPr/>
        </p:nvSpPr>
        <p:spPr>
          <a:xfrm>
            <a:off x="6510528" y="2231136"/>
            <a:ext cx="4809744" cy="411479"/>
          </a:xfrm>
          <a:prstGeom prst="rect">
            <a:avLst/>
          </a:prstGeom>
          <a:noFill/>
        </p:spPr>
        <p:txBody>
          <a:bodyPr wrap="square" lIns="0" tIns="0" rIns="0" bIns="0" anchor="t">
            <a:spAutoFit/>
          </a:bodyPr>
          <a:lstStyle/>
          <a:p>
            <a:pPr>
              <a:lnSpc>
                <a:spcPct val="118000"/>
              </a:lnSpc>
            </a:pPr>
            <a:r>
              <a:rPr sz="1250" b="0" dirty="0">
                <a:solidFill>
                  <a:srgbClr val="5D6B75"/>
                </a:solidFill>
                <a:latin typeface="Calibri"/>
              </a:rPr>
              <a:t>Le </a:t>
            </a:r>
            <a:r>
              <a:rPr sz="1250" b="0" dirty="0" err="1">
                <a:solidFill>
                  <a:srgbClr val="5D6B75"/>
                </a:solidFill>
                <a:latin typeface="Calibri"/>
              </a:rPr>
              <a:t>calcul</a:t>
            </a:r>
            <a:r>
              <a:rPr sz="1250" b="0" dirty="0">
                <a:solidFill>
                  <a:srgbClr val="5D6B75"/>
                </a:solidFill>
                <a:latin typeface="Calibri"/>
              </a:rPr>
              <a:t> </a:t>
            </a:r>
            <a:r>
              <a:rPr sz="1250" b="0" dirty="0" err="1">
                <a:solidFill>
                  <a:srgbClr val="5D6B75"/>
                </a:solidFill>
                <a:latin typeface="Calibri"/>
              </a:rPr>
              <a:t>vectorisé</a:t>
            </a:r>
            <a:r>
              <a:rPr sz="1250" b="0" dirty="0">
                <a:solidFill>
                  <a:srgbClr val="5D6B75"/>
                </a:solidFill>
                <a:latin typeface="Calibri"/>
              </a:rPr>
              <a:t> sur </a:t>
            </a:r>
            <a:r>
              <a:rPr sz="1250" b="0" dirty="0" err="1">
                <a:solidFill>
                  <a:srgbClr val="5D6B75"/>
                </a:solidFill>
                <a:latin typeface="Calibri"/>
              </a:rPr>
              <a:t>lequel</a:t>
            </a:r>
            <a:r>
              <a:rPr sz="1250" b="0" dirty="0">
                <a:solidFill>
                  <a:srgbClr val="5D6B75"/>
                </a:solidFill>
                <a:latin typeface="Calibri"/>
              </a:rPr>
              <a:t> pandas repose. Et la graine </a:t>
            </a:r>
            <a:r>
              <a:rPr sz="1250" b="0" dirty="0" err="1">
                <a:solidFill>
                  <a:srgbClr val="5D6B75"/>
                </a:solidFill>
                <a:latin typeface="Calibri"/>
              </a:rPr>
              <a:t>aléatoire</a:t>
            </a:r>
            <a:r>
              <a:rPr sz="1250" b="0" dirty="0">
                <a:solidFill>
                  <a:srgbClr val="5D6B75"/>
                </a:solidFill>
                <a:latin typeface="Calibri"/>
              </a:rPr>
              <a:t> qui rend </a:t>
            </a:r>
            <a:r>
              <a:rPr sz="1250" b="0" dirty="0" err="1">
                <a:solidFill>
                  <a:srgbClr val="5D6B75"/>
                </a:solidFill>
                <a:latin typeface="Calibri"/>
              </a:rPr>
              <a:t>l'exécution</a:t>
            </a:r>
            <a:r>
              <a:rPr sz="1250" b="0" dirty="0">
                <a:solidFill>
                  <a:srgbClr val="5D6B75"/>
                </a:solidFill>
                <a:latin typeface="Calibri"/>
              </a:rPr>
              <a:t> reproductible.</a:t>
            </a:r>
          </a:p>
        </p:txBody>
      </p:sp>
      <p:sp>
        <p:nvSpPr>
          <p:cNvPr id="10" name="Shape 2"/>
          <p:cNvSpPr/>
          <p:nvPr/>
        </p:nvSpPr>
        <p:spPr>
          <a:xfrm>
            <a:off x="594360" y="3035808"/>
            <a:ext cx="5358384" cy="1325880"/>
          </a:xfrm>
          <a:prstGeom prst="roundRect">
            <a:avLst>
              <a:gd name="adj" fmla="val 3077"/>
            </a:avLst>
          </a:prstGeom>
          <a:solidFill>
            <a:srgbClr val="EAF3F4"/>
          </a:solidFill>
          <a:ln w="12700">
            <a:solidFill>
              <a:srgbClr val="D3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6"/>
          <p:cNvSpPr txBox="1"/>
          <p:nvPr/>
        </p:nvSpPr>
        <p:spPr>
          <a:xfrm>
            <a:off x="868680" y="3218688"/>
            <a:ext cx="4809744" cy="365760"/>
          </a:xfrm>
          <a:prstGeom prst="rect">
            <a:avLst/>
          </a:prstGeom>
          <a:noFill/>
        </p:spPr>
        <p:txBody>
          <a:bodyPr wrap="square" lIns="0" tIns="0" rIns="0" bIns="0" anchor="t">
            <a:spAutoFit/>
          </a:bodyPr>
          <a:lstStyle/>
          <a:p>
            <a:r>
              <a:rPr sz="1800" b="1">
                <a:solidFill>
                  <a:srgbClr val="0E7C86"/>
                </a:solidFill>
                <a:latin typeface="Cambria"/>
              </a:rPr>
              <a:t>Matplotlib</a:t>
            </a:r>
            <a:r>
              <a:rPr sz="1050" b="0">
                <a:solidFill>
                  <a:srgbClr val="5D6B75"/>
                </a:solidFill>
                <a:latin typeface="Calibri"/>
              </a:rPr>
              <a:t>   3.11</a:t>
            </a:r>
          </a:p>
        </p:txBody>
      </p:sp>
      <p:sp>
        <p:nvSpPr>
          <p:cNvPr id="12" name="Text 7"/>
          <p:cNvSpPr txBox="1"/>
          <p:nvPr/>
        </p:nvSpPr>
        <p:spPr>
          <a:xfrm>
            <a:off x="868680" y="3712463"/>
            <a:ext cx="4809744" cy="411479"/>
          </a:xfrm>
          <a:prstGeom prst="rect">
            <a:avLst/>
          </a:prstGeom>
          <a:noFill/>
        </p:spPr>
        <p:txBody>
          <a:bodyPr wrap="square" lIns="0" tIns="0" rIns="0" bIns="0" anchor="t">
            <a:spAutoFit/>
          </a:bodyPr>
          <a:lstStyle/>
          <a:p>
            <a:pPr>
              <a:lnSpc>
                <a:spcPct val="118000"/>
              </a:lnSpc>
            </a:pPr>
            <a:r>
              <a:rPr sz="1250" b="0">
                <a:solidFill>
                  <a:srgbClr val="5D6B75"/>
                </a:solidFill>
                <a:latin typeface="Calibri"/>
              </a:rPr>
              <a:t>Les dix graphiques. Moins commode que Seaborn, mais le contrôle sur chaque élément — donc sur chaque ornement retiré.</a:t>
            </a:r>
          </a:p>
        </p:txBody>
      </p:sp>
      <p:sp>
        <p:nvSpPr>
          <p:cNvPr id="13" name="Shape 3"/>
          <p:cNvSpPr/>
          <p:nvPr/>
        </p:nvSpPr>
        <p:spPr>
          <a:xfrm>
            <a:off x="6236208" y="3035808"/>
            <a:ext cx="5358384" cy="1325880"/>
          </a:xfrm>
          <a:prstGeom prst="roundRect">
            <a:avLst>
              <a:gd name="adj" fmla="val 3077"/>
            </a:avLst>
          </a:prstGeom>
          <a:solidFill>
            <a:srgbClr val="EAF3F4"/>
          </a:solidFill>
          <a:ln w="12700">
            <a:solidFill>
              <a:srgbClr val="D3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 8"/>
          <p:cNvSpPr txBox="1"/>
          <p:nvPr/>
        </p:nvSpPr>
        <p:spPr>
          <a:xfrm>
            <a:off x="6510528" y="3218688"/>
            <a:ext cx="4809744" cy="365760"/>
          </a:xfrm>
          <a:prstGeom prst="rect">
            <a:avLst/>
          </a:prstGeom>
          <a:noFill/>
        </p:spPr>
        <p:txBody>
          <a:bodyPr wrap="square" lIns="0" tIns="0" rIns="0" bIns="0" anchor="t">
            <a:spAutoFit/>
          </a:bodyPr>
          <a:lstStyle/>
          <a:p>
            <a:r>
              <a:rPr sz="1800" b="1">
                <a:solidFill>
                  <a:srgbClr val="0E7C86"/>
                </a:solidFill>
                <a:latin typeface="Cambria"/>
              </a:rPr>
              <a:t>scikit-learn</a:t>
            </a:r>
            <a:r>
              <a:rPr sz="1050" b="0">
                <a:solidFill>
                  <a:srgbClr val="5D6B75"/>
                </a:solidFill>
                <a:latin typeface="Calibri"/>
              </a:rPr>
              <a:t>   1.9</a:t>
            </a:r>
          </a:p>
        </p:txBody>
      </p:sp>
      <p:sp>
        <p:nvSpPr>
          <p:cNvPr id="15" name="Text 9"/>
          <p:cNvSpPr txBox="1"/>
          <p:nvPr/>
        </p:nvSpPr>
        <p:spPr>
          <a:xfrm>
            <a:off x="6510528" y="3712463"/>
            <a:ext cx="4809744" cy="411479"/>
          </a:xfrm>
          <a:prstGeom prst="rect">
            <a:avLst/>
          </a:prstGeom>
          <a:noFill/>
        </p:spPr>
        <p:txBody>
          <a:bodyPr wrap="square" lIns="0" tIns="0" rIns="0" bIns="0" anchor="t">
            <a:spAutoFit/>
          </a:bodyPr>
          <a:lstStyle/>
          <a:p>
            <a:pPr>
              <a:lnSpc>
                <a:spcPct val="118000"/>
              </a:lnSpc>
            </a:pPr>
            <a:r>
              <a:rPr sz="1250" b="0">
                <a:solidFill>
                  <a:srgbClr val="5D6B75"/>
                </a:solidFill>
                <a:latin typeface="Calibri"/>
              </a:rPr>
              <a:t>Le modèle prédictif. Une seule interface </a:t>
            </a:r>
            <a:r>
              <a:rPr sz="1250" b="1">
                <a:solidFill>
                  <a:srgbClr val="16232B"/>
                </a:solidFill>
                <a:latin typeface="Calibri"/>
              </a:rPr>
              <a:t>fit / predict</a:t>
            </a:r>
            <a:r>
              <a:rPr sz="1250" b="0">
                <a:solidFill>
                  <a:srgbClr val="5D6B75"/>
                </a:solidFill>
                <a:latin typeface="Calibri"/>
              </a:rPr>
              <a:t> : comparer quatre algorithmes ne change qu'un nom.</a:t>
            </a:r>
          </a:p>
        </p:txBody>
      </p:sp>
      <p:sp>
        <p:nvSpPr>
          <p:cNvPr id="16" name="Text 10"/>
          <p:cNvSpPr txBox="1"/>
          <p:nvPr/>
        </p:nvSpPr>
        <p:spPr>
          <a:xfrm>
            <a:off x="594360" y="4572000"/>
            <a:ext cx="10972800" cy="640080"/>
          </a:xfrm>
          <a:prstGeom prst="rect">
            <a:avLst/>
          </a:prstGeom>
          <a:noFill/>
        </p:spPr>
        <p:txBody>
          <a:bodyPr wrap="square" lIns="0" tIns="0" rIns="0" bIns="0" anchor="ctr">
            <a:spAutoFit/>
          </a:bodyPr>
          <a:lstStyle/>
          <a:p>
            <a:pPr>
              <a:lnSpc>
                <a:spcPct val="120000"/>
              </a:lnSpc>
            </a:pPr>
            <a:r>
              <a:rPr sz="1350" b="0">
                <a:solidFill>
                  <a:srgbClr val="5D6B75"/>
                </a:solidFill>
                <a:latin typeface="Calibri"/>
              </a:rPr>
              <a:t>Versions figées dans </a:t>
            </a:r>
            <a:r>
              <a:rPr sz="1300" b="0">
                <a:solidFill>
                  <a:srgbClr val="16232B"/>
                </a:solidFill>
                <a:latin typeface="Consolas"/>
              </a:rPr>
              <a:t>requirements.txt</a:t>
            </a:r>
            <a:r>
              <a:rPr sz="1350" b="0">
                <a:solidFill>
                  <a:srgbClr val="5D6B75"/>
                </a:solidFill>
                <a:latin typeface="Calibri"/>
              </a:rPr>
              <a:t>. Les types compacts imposés à pandas ramènent la mémoire de 3,2 Go à 1,0 Go.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23444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LE CHIFFRE QUI COMMANDE TOUT LE RESTE</a:t>
            </a:r>
            <a:endParaRPr lang="en-US" sz="1050" dirty="0"/>
          </a:p>
        </p:txBody>
      </p:sp>
      <p:sp>
        <p:nvSpPr>
          <p:cNvPr id="3" name="Text 1"/>
          <p:cNvSpPr txBox="1"/>
          <p:nvPr/>
        </p:nvSpPr>
        <p:spPr>
          <a:xfrm>
            <a:off x="594360" y="1554480"/>
            <a:ext cx="5669280" cy="2286000"/>
          </a:xfrm>
          <a:prstGeom prst="rect">
            <a:avLst/>
          </a:prstGeom>
          <a:noFill/>
          <a:ln/>
        </p:spPr>
        <p:txBody>
          <a:bodyPr wrap="square" lIns="0" tIns="0" rIns="0" bIns="0" rtlCol="0" anchor="ctr"/>
          <a:lstStyle/>
          <a:p>
            <a:pPr marL="0" indent="0">
              <a:buNone/>
            </a:pPr>
            <a:r>
              <a:rPr lang="en-US" sz="12000" b="1" dirty="0">
                <a:solidFill>
                  <a:srgbClr val="0E7C86"/>
                </a:solidFill>
                <a:latin typeface="Cambria" pitchFamily="34" charset="0"/>
                <a:ea typeface="Cambria" pitchFamily="34" charset="-122"/>
                <a:cs typeface="Cambria" pitchFamily="34" charset="-120"/>
              </a:rPr>
              <a:t>59 %</a:t>
            </a:r>
            <a:endParaRPr lang="en-US" sz="12000" dirty="0"/>
          </a:p>
        </p:txBody>
      </p:sp>
      <p:sp>
        <p:nvSpPr>
          <p:cNvPr id="4" name="Text 2"/>
          <p:cNvSpPr txBox="1"/>
          <p:nvPr/>
        </p:nvSpPr>
        <p:spPr>
          <a:xfrm>
            <a:off x="6035040" y="1828800"/>
            <a:ext cx="5394960" cy="1463040"/>
          </a:xfrm>
          <a:prstGeom prst="rect">
            <a:avLst/>
          </a:prstGeom>
          <a:noFill/>
          <a:ln/>
        </p:spPr>
        <p:txBody>
          <a:bodyPr wrap="square" lIns="0" tIns="0" rIns="0" bIns="0" rtlCol="0" anchor="ctr"/>
          <a:lstStyle/>
          <a:p>
            <a:pPr marL="0" indent="0">
              <a:lnSpc>
                <a:spcPct val="110000"/>
              </a:lnSpc>
              <a:buNone/>
            </a:pPr>
            <a:r>
              <a:rPr lang="en-US" sz="3000" dirty="0">
                <a:solidFill>
                  <a:srgbClr val="16232B"/>
                </a:solidFill>
                <a:latin typeface="Cambria" pitchFamily="34" charset="0"/>
                <a:ea typeface="Cambria" pitchFamily="34" charset="-122"/>
                <a:cs typeface="Cambria" pitchFamily="34" charset="-120"/>
              </a:rPr>
              <a:t>des articles vendus</a:t>
            </a:r>
            <a:endParaRPr lang="en-US" sz="3000" dirty="0"/>
          </a:p>
          <a:p>
            <a:pPr marL="0" indent="0">
              <a:lnSpc>
                <a:spcPct val="110000"/>
              </a:lnSpc>
              <a:buNone/>
            </a:pPr>
            <a:r>
              <a:rPr lang="en-US" sz="3000" dirty="0">
                <a:solidFill>
                  <a:srgbClr val="16232B"/>
                </a:solidFill>
                <a:latin typeface="Cambria" pitchFamily="34" charset="0"/>
                <a:ea typeface="Cambria" pitchFamily="34" charset="-122"/>
                <a:cs typeface="Cambria" pitchFamily="34" charset="-120"/>
              </a:rPr>
              <a:t>sont des </a:t>
            </a:r>
            <a:endParaRPr lang="en-US" sz="3000" dirty="0"/>
          </a:p>
          <a:p>
            <a:pPr marL="0" indent="0">
              <a:lnSpc>
                <a:spcPct val="110000"/>
              </a:lnSpc>
              <a:buNone/>
            </a:pPr>
            <a:r>
              <a:rPr lang="en-US" sz="3000" b="1" dirty="0">
                <a:solidFill>
                  <a:srgbClr val="0E7C86"/>
                </a:solidFill>
                <a:latin typeface="Cambria" pitchFamily="34" charset="0"/>
                <a:ea typeface="Cambria" pitchFamily="34" charset="-122"/>
                <a:cs typeface="Cambria" pitchFamily="34" charset="-120"/>
              </a:rPr>
              <a:t>rachats</a:t>
            </a:r>
            <a:r>
              <a:rPr lang="en-US" sz="3000" dirty="0">
                <a:solidFill>
                  <a:srgbClr val="16232B"/>
                </a:solidFill>
                <a:latin typeface="Cambria" pitchFamily="34" charset="0"/>
                <a:ea typeface="Cambria" pitchFamily="34" charset="-122"/>
                <a:cs typeface="Cambria" pitchFamily="34" charset="-120"/>
              </a:rPr>
              <a:t>.</a:t>
            </a:r>
            <a:endParaRPr lang="en-US" sz="3000" dirty="0"/>
          </a:p>
        </p:txBody>
      </p:sp>
      <p:sp>
        <p:nvSpPr>
          <p:cNvPr id="5" name="Text 3"/>
          <p:cNvSpPr txBox="1"/>
          <p:nvPr/>
        </p:nvSpPr>
        <p:spPr>
          <a:xfrm>
            <a:off x="6035040" y="3429000"/>
            <a:ext cx="5394960" cy="457200"/>
          </a:xfrm>
          <a:prstGeom prst="rect">
            <a:avLst/>
          </a:prstGeom>
          <a:noFill/>
          <a:ln/>
        </p:spPr>
        <p:txBody>
          <a:bodyPr wrap="square" lIns="0" tIns="0" rIns="0" bIns="0" rtlCol="0" anchor="ctr"/>
          <a:lstStyle/>
          <a:p>
            <a:pPr marL="0" indent="0">
              <a:buNone/>
            </a:pPr>
            <a:r>
              <a:rPr lang="en-US" sz="1400" dirty="0">
                <a:solidFill>
                  <a:srgbClr val="5D6B75"/>
                </a:solidFill>
                <a:latin typeface="Calibri" pitchFamily="34" charset="0"/>
                <a:ea typeface="Calibri" pitchFamily="34" charset="-122"/>
                <a:cs typeface="Calibri" pitchFamily="34" charset="-120"/>
              </a:rPr>
              <a:t>Chez les clients installés, cette part dépasse 80 %.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1</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La croissance ne viendra pas d'un panier plus gros</a:t>
            </a:r>
            <a:endParaRPr lang="en-US" sz="2700" dirty="0"/>
          </a:p>
        </p:txBody>
      </p:sp>
      <p:pic>
        <p:nvPicPr>
          <p:cNvPr id="4" name="Image 0" descr="02_projet\_ppt\fig01.png"/>
          <p:cNvPicPr>
            <a:picLocks noChangeAspect="1"/>
          </p:cNvPicPr>
          <p:nvPr/>
        </p:nvPicPr>
        <p:blipFill>
          <a:blip r:embed="rId3"/>
          <a:stretch>
            <a:fillRect/>
          </a:stretch>
        </p:blipFill>
        <p:spPr>
          <a:xfrm>
            <a:off x="594360" y="1519086"/>
            <a:ext cx="6903720" cy="3490645"/>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Le panier reste à dix articles ; sa part de rachats passe de 29 % à 85 %.</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Réserver le budget de découverte — échantillons, réductions, mise en avant — aux clients de moins de cinq commandes, et le couper au-delà de la dixième.</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1</a:t>
            </a:r>
            <a:endParaRPr lang="en-US" sz="3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2</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L'ordre de remplissage trahit l'habitude</a:t>
            </a:r>
            <a:endParaRPr lang="en-US" sz="2700" dirty="0"/>
          </a:p>
        </p:txBody>
      </p:sp>
      <p:pic>
        <p:nvPicPr>
          <p:cNvPr id="4" name="Image 0" descr="02_projet\_ppt\fig02.png"/>
          <p:cNvPicPr>
            <a:picLocks noChangeAspect="1"/>
          </p:cNvPicPr>
          <p:nvPr/>
        </p:nvPicPr>
        <p:blipFill>
          <a:blip r:embed="rId3"/>
          <a:stretch>
            <a:fillRect/>
          </a:stretch>
        </p:blipFill>
        <p:spPr>
          <a:xfrm>
            <a:off x="594360" y="1596655"/>
            <a:ext cx="6903720" cy="3335505"/>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67,8 % de rachats en première position, 48 % en vingtième.</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Ne jamais placer de suggestion en début de panier : on y interrompt une routine. Concentrer les recommandations sur les dernières positions.</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2</a:t>
            </a:r>
            <a:endParaRPr lang="en-US" sz="3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3</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Vos rayons n'ont pas le même métier</a:t>
            </a:r>
            <a:endParaRPr lang="en-US" sz="2700" dirty="0"/>
          </a:p>
        </p:txBody>
      </p:sp>
      <p:pic>
        <p:nvPicPr>
          <p:cNvPr id="4" name="Image 0" descr="02_projet\_ppt\fig03.png"/>
          <p:cNvPicPr>
            <a:picLocks noChangeAspect="1"/>
          </p:cNvPicPr>
          <p:nvPr/>
        </p:nvPicPr>
        <p:blipFill>
          <a:blip r:embed="rId3"/>
          <a:stretch>
            <a:fillRect/>
          </a:stretch>
        </p:blipFill>
        <p:spPr>
          <a:xfrm>
            <a:off x="1117040" y="1207008"/>
            <a:ext cx="5858359" cy="4114800"/>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Un facteur deux sépare les produits laitiers (67 %) de l'hygiène (32 %).</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Donner des objectifs distincts aux rayons. Le laitier se pilote sur la régularité de réachat, l'hygiène sur la marge par commande.</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3</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4</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Le bio travaille trois fois plus que sa place au catalogue</a:t>
            </a:r>
            <a:endParaRPr lang="en-US" sz="2700" dirty="0"/>
          </a:p>
        </p:txBody>
      </p:sp>
      <p:pic>
        <p:nvPicPr>
          <p:cNvPr id="4" name="Image 0" descr="02_projet\_ppt\fig04.png"/>
          <p:cNvPicPr>
            <a:picLocks noChangeAspect="1"/>
          </p:cNvPicPr>
          <p:nvPr/>
        </p:nvPicPr>
        <p:blipFill>
          <a:blip r:embed="rId3"/>
          <a:stretch>
            <a:fillRect/>
          </a:stretch>
        </p:blipFill>
        <p:spPr>
          <a:xfrm>
            <a:off x="594360" y="1748794"/>
            <a:ext cx="6903720" cy="3031227"/>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10 % des références, 31,6 % des ventes, et 6,6 points de rachat en plus.</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Densifier l'offre bio dans les rayons où elle est encore mince. Le rendement de l'investissement est connu d'avance.</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4</a:t>
            </a:r>
            <a:endParaRPr lang="en-US" sz="3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5</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Vous avez deux clientèles, à deux moments</a:t>
            </a:r>
            <a:endParaRPr lang="en-US" sz="2700" dirty="0"/>
          </a:p>
        </p:txBody>
      </p:sp>
      <p:pic>
        <p:nvPicPr>
          <p:cNvPr id="4" name="Image 0" descr="02_projet\_ppt\fig05.png"/>
          <p:cNvPicPr>
            <a:picLocks noChangeAspect="1"/>
          </p:cNvPicPr>
          <p:nvPr/>
        </p:nvPicPr>
        <p:blipFill>
          <a:blip r:embed="rId3"/>
          <a:stretch>
            <a:fillRect/>
          </a:stretch>
        </p:blipFill>
        <p:spPr>
          <a:xfrm>
            <a:off x="594360" y="1922018"/>
            <a:ext cx="6903720" cy="2684780"/>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Deux foyers nettement séparés : lundi 10 h, et dimanche début d'après-midi.</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Dédoubler créneaux de livraison et campagnes. Dimensionner la logistique sur les deux pointes, jamais sur une moyenne qui ne correspond à rien.</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5</a:t>
            </a:r>
            <a:endParaRPr lang="en-US" sz="3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6</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Le week-end ne gonfle pas les paniers, il les déplace</a:t>
            </a:r>
            <a:endParaRPr lang="en-US" sz="2700" dirty="0"/>
          </a:p>
        </p:txBody>
      </p:sp>
      <p:pic>
        <p:nvPicPr>
          <p:cNvPr id="4" name="Image 0" descr="02_projet\_ppt\fig06.png"/>
          <p:cNvPicPr>
            <a:picLocks noChangeAspect="1"/>
          </p:cNvPicPr>
          <p:nvPr/>
        </p:nvPicPr>
        <p:blipFill>
          <a:blip r:embed="rId3"/>
          <a:stretch>
            <a:fillRect/>
          </a:stretch>
        </p:blipFill>
        <p:spPr>
          <a:xfrm>
            <a:off x="594360" y="1481726"/>
            <a:ext cx="6903720" cy="3565364"/>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Les petits paniers reculent de 7 points au profit des gros.</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Placer les offres à seuil — « livraison offerte dès X articles » — le week-end, où les gros paniers sont déjà la norme.</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6</a:t>
            </a:r>
            <a:endParaRPr lang="en-US" sz="3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7</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La cadence appartient à la course, pas au produit</a:t>
            </a:r>
            <a:endParaRPr lang="en-US" sz="2700" dirty="0"/>
          </a:p>
        </p:txBody>
      </p:sp>
      <p:pic>
        <p:nvPicPr>
          <p:cNvPr id="4" name="Image 0" descr="02_projet\_ppt\fig07.png"/>
          <p:cNvPicPr>
            <a:picLocks noChangeAspect="1"/>
          </p:cNvPicPr>
          <p:nvPr/>
        </p:nvPicPr>
        <p:blipFill>
          <a:blip r:embed="rId3"/>
          <a:stretch>
            <a:fillRect/>
          </a:stretch>
        </p:blipFill>
        <p:spPr>
          <a:xfrm>
            <a:off x="594360" y="1465034"/>
            <a:ext cx="6903720" cy="3598748"/>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Toutes allées confondues, l'écart n'est que de 2,7 jours.</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Abandonner la relance produit par produit. Caler la relance sur la course entière, au rythme propre de chaque client.</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7</a:t>
            </a:r>
            <a:endParaRPr lang="en-US" sz="3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8</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Ce qui fait entrer n'est pas ce qui fait rester</a:t>
            </a:r>
            <a:endParaRPr lang="en-US" sz="2700" dirty="0"/>
          </a:p>
        </p:txBody>
      </p:sp>
      <p:pic>
        <p:nvPicPr>
          <p:cNvPr id="4" name="Image 0" descr="02_projet\_ppt\fig08.png"/>
          <p:cNvPicPr>
            <a:picLocks noChangeAspect="1"/>
          </p:cNvPicPr>
          <p:nvPr/>
        </p:nvPicPr>
        <p:blipFill>
          <a:blip r:embed="rId3"/>
          <a:stretch>
            <a:fillRect/>
          </a:stretch>
        </p:blipFill>
        <p:spPr>
          <a:xfrm>
            <a:off x="845820" y="1207008"/>
            <a:ext cx="6400800" cy="4114800"/>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Les fruits et légumes gagnent 1,9 point chez les clients installés ; les surgelés en perdent 1,2.</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Séparer les deux budgets. Acquisition sur les rayons d'entrée, rétention sur les rayons de fidélité.</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8</a:t>
            </a:r>
            <a:endParaRPr lang="en-US" sz="3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9</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Un second mode d'achat existe : la recette</a:t>
            </a:r>
            <a:endParaRPr lang="en-US" sz="2700" dirty="0"/>
          </a:p>
        </p:txBody>
      </p:sp>
      <p:pic>
        <p:nvPicPr>
          <p:cNvPr id="4" name="Image 0" descr="02_projet\_ppt\fig09.png"/>
          <p:cNvPicPr>
            <a:picLocks noChangeAspect="1"/>
          </p:cNvPicPr>
          <p:nvPr/>
        </p:nvPicPr>
        <p:blipFill>
          <a:blip r:embed="rId3"/>
          <a:stretch>
            <a:fillRect/>
          </a:stretch>
        </p:blipFill>
        <p:spPr>
          <a:xfrm>
            <a:off x="594360" y="1635551"/>
            <a:ext cx="6903720" cy="3257713"/>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Jalapeños et coriandre s'achètent ensemble 9,6 fois plus souvent que le hasard ne le voudrait.</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Suggérer un ingrédient complémentaire au moment de l'ajout au panier, et uniquement sur les couples au lien mesuré — une trentaine de paires.</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9</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DÉMONSTRATION 10</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La preuve inverse : très achetés, jamais rachetés</a:t>
            </a:r>
            <a:endParaRPr lang="en-US" sz="2700" dirty="0"/>
          </a:p>
        </p:txBody>
      </p:sp>
      <p:pic>
        <p:nvPicPr>
          <p:cNvPr id="4" name="Image 0" descr="02_projet\_ppt\fig10.png"/>
          <p:cNvPicPr>
            <a:picLocks noChangeAspect="1"/>
          </p:cNvPicPr>
          <p:nvPr/>
        </p:nvPicPr>
        <p:blipFill>
          <a:blip r:embed="rId3"/>
          <a:stretch>
            <a:fillRect/>
          </a:stretch>
        </p:blipFill>
        <p:spPr>
          <a:xfrm>
            <a:off x="594360" y="1538478"/>
            <a:ext cx="6903720" cy="3451860"/>
          </a:xfrm>
          <a:prstGeom prst="rect">
            <a:avLst/>
          </a:prstGeom>
        </p:spPr>
      </p:pic>
      <p:sp>
        <p:nvSpPr>
          <p:cNvPr id="5" name="Text 2"/>
          <p:cNvSpPr txBox="1"/>
          <p:nvPr/>
        </p:nvSpPr>
        <p:spPr>
          <a:xfrm>
            <a:off x="594360" y="5440680"/>
            <a:ext cx="6903720" cy="457200"/>
          </a:xfrm>
          <a:prstGeom prst="rect">
            <a:avLst/>
          </a:prstGeom>
          <a:noFill/>
          <a:ln/>
        </p:spPr>
        <p:txBody>
          <a:bodyPr wrap="square" lIns="0" tIns="0" rIns="0" bIns="0" rtlCol="0" anchor="t"/>
          <a:lstStyle/>
          <a:p>
            <a:pPr marL="0" indent="0">
              <a:buNone/>
            </a:pPr>
            <a:r>
              <a:rPr lang="en-US" sz="1100" i="1" dirty="0">
                <a:solidFill>
                  <a:srgbClr val="5D6B75"/>
                </a:solidFill>
                <a:latin typeface="Calibri" pitchFamily="34" charset="0"/>
                <a:ea typeface="Calibri" pitchFamily="34" charset="-122"/>
                <a:cs typeface="Calibri" pitchFamily="34" charset="-120"/>
              </a:rPr>
              <a:t>Thym, concentré de tomate, huile d'olive : 10 à 18 points sous la moyenne.</a:t>
            </a:r>
            <a:endParaRPr lang="en-US" sz="1100" dirty="0"/>
          </a:p>
        </p:txBody>
      </p:sp>
      <p:sp>
        <p:nvSpPr>
          <p:cNvPr id="6" name="Shape 3"/>
          <p:cNvSpPr/>
          <p:nvPr/>
        </p:nvSpPr>
        <p:spPr>
          <a:xfrm>
            <a:off x="7818120" y="1207008"/>
            <a:ext cx="3749040" cy="3200400"/>
          </a:xfrm>
          <a:prstGeom prst="roundRect">
            <a:avLst>
              <a:gd name="adj" fmla="val 1714"/>
            </a:avLst>
          </a:prstGeom>
          <a:solidFill>
            <a:srgbClr val="EAF3F4"/>
          </a:solidFill>
          <a:ln w="12700">
            <a:solidFill>
              <a:srgbClr val="D3E5E7"/>
            </a:solidFill>
            <a:prstDash val="solid"/>
          </a:ln>
        </p:spPr>
        <p:txBody>
          <a:bodyPr/>
          <a:lstStyle/>
          <a:p>
            <a:endParaRPr lang="fr-FR"/>
          </a:p>
        </p:txBody>
      </p:sp>
      <p:sp>
        <p:nvSpPr>
          <p:cNvPr id="7" name="Text 4"/>
          <p:cNvSpPr txBox="1"/>
          <p:nvPr/>
        </p:nvSpPr>
        <p:spPr>
          <a:xfrm>
            <a:off x="8074152" y="1389888"/>
            <a:ext cx="3236976" cy="219456"/>
          </a:xfrm>
          <a:prstGeom prst="rect">
            <a:avLst/>
          </a:prstGeom>
          <a:noFill/>
          <a:ln/>
        </p:spPr>
        <p:txBody>
          <a:bodyPr wrap="square" lIns="0" tIns="0" rIns="0" bIns="0" rtlCol="0" anchor="ctr"/>
          <a:lstStyle/>
          <a:p>
            <a:pPr marL="0" indent="0">
              <a:buNone/>
            </a:pPr>
            <a:r>
              <a:rPr lang="en-US" sz="950" b="1" kern="0" spc="120" dirty="0">
                <a:solidFill>
                  <a:srgbClr val="0E7C86"/>
                </a:solidFill>
                <a:latin typeface="Calibri" pitchFamily="34" charset="0"/>
                <a:ea typeface="Calibri" pitchFamily="34" charset="-122"/>
                <a:cs typeface="Calibri" pitchFamily="34" charset="-120"/>
              </a:rPr>
              <a:t>CE QUE NOUS PROPOSONS</a:t>
            </a:r>
            <a:endParaRPr lang="en-US" sz="950" dirty="0"/>
          </a:p>
        </p:txBody>
      </p:sp>
      <p:sp>
        <p:nvSpPr>
          <p:cNvPr id="8" name="Text 5"/>
          <p:cNvSpPr txBox="1"/>
          <p:nvPr/>
        </p:nvSpPr>
        <p:spPr>
          <a:xfrm>
            <a:off x="8074152" y="1682496"/>
            <a:ext cx="3236976" cy="2505456"/>
          </a:xfrm>
          <a:prstGeom prst="rect">
            <a:avLst/>
          </a:prstGeom>
          <a:noFill/>
          <a:ln/>
        </p:spPr>
        <p:txBody>
          <a:bodyPr wrap="square" lIns="0" tIns="0" rIns="0" bIns="0" rtlCol="0" anchor="t"/>
          <a:lstStyle/>
          <a:p>
            <a:pPr marL="0" indent="0">
              <a:lnSpc>
                <a:spcPct val="110000"/>
              </a:lnSpc>
              <a:buNone/>
            </a:pPr>
            <a:r>
              <a:rPr lang="en-US" sz="1300" dirty="0">
                <a:solidFill>
                  <a:srgbClr val="16232B"/>
                </a:solidFill>
                <a:latin typeface="Calibri" pitchFamily="34" charset="0"/>
                <a:ea typeface="Calibri" pitchFamily="34" charset="-122"/>
                <a:cs typeface="Calibri" pitchFamily="34" charset="-120"/>
              </a:rPr>
              <a:t>Traiter ces produits comme des points d'entrée de recette, non comme des échecs de fidélisation. Les associer à leurs compléments.</a:t>
            </a:r>
            <a:endParaRPr lang="en-US" sz="1300" dirty="0"/>
          </a:p>
        </p:txBody>
      </p:sp>
      <p:sp>
        <p:nvSpPr>
          <p:cNvPr id="9" name="Text 6"/>
          <p:cNvSpPr txBox="1"/>
          <p:nvPr/>
        </p:nvSpPr>
        <p:spPr>
          <a:xfrm>
            <a:off x="7818120" y="4663440"/>
            <a:ext cx="548640" cy="548640"/>
          </a:xfrm>
          <a:prstGeom prst="rect">
            <a:avLst/>
          </a:prstGeom>
          <a:noFill/>
          <a:ln/>
        </p:spPr>
        <p:txBody>
          <a:bodyPr wrap="square" lIns="0" tIns="0" rIns="0" bIns="0" rtlCol="0" anchor="ctr"/>
          <a:lstStyle/>
          <a:p>
            <a:pPr marL="0" indent="0">
              <a:buNone/>
            </a:pPr>
            <a:r>
              <a:rPr lang="en-US" sz="3400" b="1" dirty="0">
                <a:solidFill>
                  <a:srgbClr val="D8E4E6"/>
                </a:solidFill>
                <a:latin typeface="Cambria" pitchFamily="34" charset="0"/>
                <a:ea typeface="Cambria" pitchFamily="34" charset="-122"/>
                <a:cs typeface="Cambria" pitchFamily="34" charset="-120"/>
              </a:rPr>
              <a:t>10</a:t>
            </a:r>
            <a:endParaRPr lang="en-US" sz="3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182880"/>
            <a:ext cx="10972800" cy="219456"/>
          </a:xfrm>
          <a:prstGeom prst="rect">
            <a:avLst/>
          </a:prstGeom>
          <a:noFill/>
          <a:ln/>
        </p:spPr>
        <p:txBody>
          <a:bodyPr wrap="square" lIns="0" tIns="0" rIns="0" bIns="0" rtlCol="0" anchor="ctr"/>
          <a:lstStyle/>
          <a:p>
            <a:pPr marL="0" indent="0">
              <a:buNone/>
            </a:pPr>
            <a:r>
              <a:rPr lang="en-US" sz="1050" b="1" kern="0" spc="160" dirty="0">
                <a:solidFill>
                  <a:srgbClr val="0E7C86"/>
                </a:solidFill>
                <a:latin typeface="Calibri" pitchFamily="34" charset="0"/>
                <a:ea typeface="Calibri" pitchFamily="34" charset="-122"/>
                <a:cs typeface="Calibri" pitchFamily="34" charset="-120"/>
              </a:rPr>
              <a:t>CE QUE NOUS VOUS RECOMMANDONS</a:t>
            </a:r>
            <a:endParaRPr lang="en-US" sz="1050" dirty="0"/>
          </a:p>
        </p:txBody>
      </p:sp>
      <p:sp>
        <p:nvSpPr>
          <p:cNvPr id="3" name="Text 1"/>
          <p:cNvSpPr txBox="1"/>
          <p:nvPr/>
        </p:nvSpPr>
        <p:spPr>
          <a:xfrm>
            <a:off x="594360" y="384048"/>
            <a:ext cx="10972800" cy="658368"/>
          </a:xfrm>
          <a:prstGeom prst="rect">
            <a:avLst/>
          </a:prstGeom>
          <a:noFill/>
          <a:ln/>
        </p:spPr>
        <p:txBody>
          <a:bodyPr wrap="square" lIns="0" tIns="0" rIns="0" bIns="0" rtlCol="0" anchor="ctr"/>
          <a:lstStyle/>
          <a:p>
            <a:pPr marL="0" indent="0">
              <a:buNone/>
            </a:pPr>
            <a:r>
              <a:rPr lang="en-US" sz="2700" b="1" dirty="0">
                <a:solidFill>
                  <a:srgbClr val="16232B"/>
                </a:solidFill>
                <a:latin typeface="Cambria" pitchFamily="34" charset="0"/>
                <a:ea typeface="Cambria" pitchFamily="34" charset="-122"/>
                <a:cs typeface="Cambria" pitchFamily="34" charset="-120"/>
              </a:rPr>
              <a:t>Quatre décisions, par rendement attendu</a:t>
            </a:r>
            <a:endParaRPr lang="en-US" sz="2700" dirty="0"/>
          </a:p>
        </p:txBody>
      </p:sp>
      <p:sp>
        <p:nvSpPr>
          <p:cNvPr id="4" name="Shape 2"/>
          <p:cNvSpPr/>
          <p:nvPr/>
        </p:nvSpPr>
        <p:spPr>
          <a:xfrm>
            <a:off x="594360" y="1426464"/>
            <a:ext cx="566928" cy="566928"/>
          </a:xfrm>
          <a:prstGeom prst="ellipse">
            <a:avLst/>
          </a:prstGeom>
          <a:solidFill>
            <a:srgbClr val="0E7C86"/>
          </a:solidFill>
          <a:ln w="12700">
            <a:solidFill>
              <a:srgbClr val="0E7C86"/>
            </a:solidFill>
            <a:prstDash val="solid"/>
          </a:ln>
        </p:spPr>
        <p:txBody>
          <a:bodyPr/>
          <a:lstStyle/>
          <a:p>
            <a:endParaRPr lang="fr-FR"/>
          </a:p>
        </p:txBody>
      </p:sp>
      <p:sp>
        <p:nvSpPr>
          <p:cNvPr id="5" name="Text 3"/>
          <p:cNvSpPr txBox="1"/>
          <p:nvPr/>
        </p:nvSpPr>
        <p:spPr>
          <a:xfrm>
            <a:off x="594360" y="1426464"/>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435608" y="1371600"/>
            <a:ext cx="10058400" cy="384048"/>
          </a:xfrm>
          <a:prstGeom prst="rect">
            <a:avLst/>
          </a:prstGeom>
          <a:noFill/>
          <a:ln/>
        </p:spPr>
        <p:txBody>
          <a:bodyPr wrap="square" lIns="0" tIns="0" rIns="0" bIns="0" rtlCol="0" anchor="ctr"/>
          <a:lstStyle/>
          <a:p>
            <a:pPr marL="0" indent="0">
              <a:buNone/>
            </a:pPr>
            <a:r>
              <a:rPr lang="en-US" sz="1600" b="1" dirty="0">
                <a:solidFill>
                  <a:srgbClr val="16232B"/>
                </a:solidFill>
                <a:latin typeface="Calibri" pitchFamily="34" charset="0"/>
                <a:ea typeface="Calibri" pitchFamily="34" charset="-122"/>
                <a:cs typeface="Calibri" pitchFamily="34" charset="-120"/>
              </a:rPr>
              <a:t>Concentrer l'effort sur les cinq premières commandes.</a:t>
            </a:r>
            <a:endParaRPr lang="en-US" sz="1600" dirty="0"/>
          </a:p>
        </p:txBody>
      </p:sp>
      <p:sp>
        <p:nvSpPr>
          <p:cNvPr id="7" name="Text 5"/>
          <p:cNvSpPr txBox="1"/>
          <p:nvPr/>
        </p:nvSpPr>
        <p:spPr>
          <a:xfrm>
            <a:off x="1435608" y="1755648"/>
            <a:ext cx="10058400" cy="658368"/>
          </a:xfrm>
          <a:prstGeom prst="rect">
            <a:avLst/>
          </a:prstGeom>
          <a:noFill/>
          <a:ln/>
        </p:spPr>
        <p:txBody>
          <a:bodyPr wrap="square" lIns="0" tIns="0" rIns="0" bIns="0" rtlCol="0" anchor="t"/>
          <a:lstStyle/>
          <a:p>
            <a:pPr marL="0" indent="0">
              <a:lnSpc>
                <a:spcPct val="110000"/>
              </a:lnSpc>
              <a:buNone/>
            </a:pPr>
            <a:r>
              <a:rPr lang="en-US" sz="1250" dirty="0">
                <a:solidFill>
                  <a:srgbClr val="5D6B75"/>
                </a:solidFill>
                <a:latin typeface="Calibri" pitchFamily="34" charset="0"/>
                <a:ea typeface="Calibri" pitchFamily="34" charset="-122"/>
                <a:cs typeface="Calibri" pitchFamily="34" charset="-120"/>
              </a:rPr>
              <a:t>La routine se referme vite : dès la dixième commande, deux tiers du panier est figé. C'est la seule fenêtre où un produit nouveau peut encore entrer.</a:t>
            </a:r>
            <a:endParaRPr lang="en-US" sz="1250" dirty="0"/>
          </a:p>
        </p:txBody>
      </p:sp>
      <p:sp>
        <p:nvSpPr>
          <p:cNvPr id="8" name="Shape 6"/>
          <p:cNvSpPr/>
          <p:nvPr/>
        </p:nvSpPr>
        <p:spPr>
          <a:xfrm>
            <a:off x="594360" y="2670048"/>
            <a:ext cx="566928" cy="566928"/>
          </a:xfrm>
          <a:prstGeom prst="ellipse">
            <a:avLst/>
          </a:prstGeom>
          <a:solidFill>
            <a:srgbClr val="0E7C86"/>
          </a:solidFill>
          <a:ln w="12700">
            <a:solidFill>
              <a:srgbClr val="0E7C86"/>
            </a:solidFill>
            <a:prstDash val="solid"/>
          </a:ln>
        </p:spPr>
        <p:txBody>
          <a:bodyPr/>
          <a:lstStyle/>
          <a:p>
            <a:endParaRPr lang="fr-FR"/>
          </a:p>
        </p:txBody>
      </p:sp>
      <p:sp>
        <p:nvSpPr>
          <p:cNvPr id="9" name="Text 7"/>
          <p:cNvSpPr txBox="1"/>
          <p:nvPr/>
        </p:nvSpPr>
        <p:spPr>
          <a:xfrm>
            <a:off x="594360" y="2670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435608" y="2615184"/>
            <a:ext cx="10058400" cy="384048"/>
          </a:xfrm>
          <a:prstGeom prst="rect">
            <a:avLst/>
          </a:prstGeom>
          <a:noFill/>
          <a:ln/>
        </p:spPr>
        <p:txBody>
          <a:bodyPr wrap="square" lIns="0" tIns="0" rIns="0" bIns="0" rtlCol="0" anchor="ctr"/>
          <a:lstStyle/>
          <a:p>
            <a:pPr marL="0" indent="0">
              <a:buNone/>
            </a:pPr>
            <a:r>
              <a:rPr lang="en-US" sz="1600" b="1" dirty="0">
                <a:solidFill>
                  <a:srgbClr val="16232B"/>
                </a:solidFill>
                <a:latin typeface="Calibri" pitchFamily="34" charset="0"/>
                <a:ea typeface="Calibri" pitchFamily="34" charset="-122"/>
                <a:cs typeface="Calibri" pitchFamily="34" charset="-120"/>
              </a:rPr>
              <a:t>Piloter chaque rayon sur sa capacité réelle à fidéliser.</a:t>
            </a:r>
            <a:endParaRPr lang="en-US" sz="1600" dirty="0"/>
          </a:p>
        </p:txBody>
      </p:sp>
      <p:sp>
        <p:nvSpPr>
          <p:cNvPr id="11" name="Text 9"/>
          <p:cNvSpPr txBox="1"/>
          <p:nvPr/>
        </p:nvSpPr>
        <p:spPr>
          <a:xfrm>
            <a:off x="1435608" y="2999232"/>
            <a:ext cx="10058400" cy="658368"/>
          </a:xfrm>
          <a:prstGeom prst="rect">
            <a:avLst/>
          </a:prstGeom>
          <a:noFill/>
          <a:ln/>
        </p:spPr>
        <p:txBody>
          <a:bodyPr wrap="square" lIns="0" tIns="0" rIns="0" bIns="0" rtlCol="0" anchor="t"/>
          <a:lstStyle/>
          <a:p>
            <a:pPr marL="0" indent="0">
              <a:lnSpc>
                <a:spcPct val="110000"/>
              </a:lnSpc>
              <a:buNone/>
            </a:pPr>
            <a:r>
              <a:rPr lang="en-US" sz="1250" dirty="0">
                <a:solidFill>
                  <a:srgbClr val="5D6B75"/>
                </a:solidFill>
                <a:latin typeface="Calibri" pitchFamily="34" charset="0"/>
                <a:ea typeface="Calibri" pitchFamily="34" charset="-122"/>
                <a:cs typeface="Calibri" pitchFamily="34" charset="-120"/>
              </a:rPr>
              <a:t>Un facteur deux les sépare. Un objectif commun revient à demander l'impossible aux uns et trop peu aux autres.</a:t>
            </a:r>
            <a:endParaRPr lang="en-US" sz="1250" dirty="0"/>
          </a:p>
        </p:txBody>
      </p:sp>
      <p:sp>
        <p:nvSpPr>
          <p:cNvPr id="12" name="Shape 10"/>
          <p:cNvSpPr/>
          <p:nvPr/>
        </p:nvSpPr>
        <p:spPr>
          <a:xfrm>
            <a:off x="594360" y="3913632"/>
            <a:ext cx="566928" cy="566928"/>
          </a:xfrm>
          <a:prstGeom prst="ellipse">
            <a:avLst/>
          </a:prstGeom>
          <a:solidFill>
            <a:srgbClr val="0E7C86"/>
          </a:solidFill>
          <a:ln w="12700">
            <a:solidFill>
              <a:srgbClr val="0E7C86"/>
            </a:solidFill>
            <a:prstDash val="solid"/>
          </a:ln>
        </p:spPr>
        <p:txBody>
          <a:bodyPr/>
          <a:lstStyle/>
          <a:p>
            <a:endParaRPr lang="fr-FR"/>
          </a:p>
        </p:txBody>
      </p:sp>
      <p:sp>
        <p:nvSpPr>
          <p:cNvPr id="13" name="Text 11"/>
          <p:cNvSpPr txBox="1"/>
          <p:nvPr/>
        </p:nvSpPr>
        <p:spPr>
          <a:xfrm>
            <a:off x="594360" y="39136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435608" y="3858768"/>
            <a:ext cx="10058400" cy="384048"/>
          </a:xfrm>
          <a:prstGeom prst="rect">
            <a:avLst/>
          </a:prstGeom>
          <a:noFill/>
          <a:ln/>
        </p:spPr>
        <p:txBody>
          <a:bodyPr wrap="square" lIns="0" tIns="0" rIns="0" bIns="0" rtlCol="0" anchor="ctr"/>
          <a:lstStyle/>
          <a:p>
            <a:pPr marL="0" indent="0">
              <a:buNone/>
            </a:pPr>
            <a:r>
              <a:rPr lang="en-US" sz="1600" b="1" dirty="0">
                <a:solidFill>
                  <a:srgbClr val="16232B"/>
                </a:solidFill>
                <a:latin typeface="Calibri" pitchFamily="34" charset="0"/>
                <a:ea typeface="Calibri" pitchFamily="34" charset="-122"/>
                <a:cs typeface="Calibri" pitchFamily="34" charset="-120"/>
              </a:rPr>
              <a:t>Relancer sur la course entière, jamais produit par produit.</a:t>
            </a:r>
            <a:endParaRPr lang="en-US" sz="1600" dirty="0"/>
          </a:p>
        </p:txBody>
      </p:sp>
      <p:sp>
        <p:nvSpPr>
          <p:cNvPr id="15" name="Text 13"/>
          <p:cNvSpPr txBox="1"/>
          <p:nvPr/>
        </p:nvSpPr>
        <p:spPr>
          <a:xfrm>
            <a:off x="1435608" y="4242816"/>
            <a:ext cx="10058400" cy="658368"/>
          </a:xfrm>
          <a:prstGeom prst="rect">
            <a:avLst/>
          </a:prstGeom>
          <a:noFill/>
          <a:ln/>
        </p:spPr>
        <p:txBody>
          <a:bodyPr wrap="square" lIns="0" tIns="0" rIns="0" bIns="0" rtlCol="0" anchor="t"/>
          <a:lstStyle/>
          <a:p>
            <a:pPr marL="0" indent="0">
              <a:lnSpc>
                <a:spcPct val="110000"/>
              </a:lnSpc>
              <a:buNone/>
            </a:pPr>
            <a:r>
              <a:rPr lang="en-US" sz="1250" dirty="0">
                <a:solidFill>
                  <a:srgbClr val="5D6B75"/>
                </a:solidFill>
                <a:latin typeface="Calibri" pitchFamily="34" charset="0"/>
                <a:ea typeface="Calibri" pitchFamily="34" charset="-122"/>
                <a:cs typeface="Calibri" pitchFamily="34" charset="-120"/>
              </a:rPr>
              <a:t>Le client ne commande pas quand il manque de lait : il rachète du lait quand il fait ses courses.</a:t>
            </a:r>
            <a:endParaRPr lang="en-US" sz="1250" dirty="0"/>
          </a:p>
        </p:txBody>
      </p:sp>
      <p:sp>
        <p:nvSpPr>
          <p:cNvPr id="16" name="Shape 14"/>
          <p:cNvSpPr/>
          <p:nvPr/>
        </p:nvSpPr>
        <p:spPr>
          <a:xfrm>
            <a:off x="594360" y="5157216"/>
            <a:ext cx="566928" cy="566928"/>
          </a:xfrm>
          <a:prstGeom prst="ellipse">
            <a:avLst/>
          </a:prstGeom>
          <a:solidFill>
            <a:srgbClr val="0E7C86"/>
          </a:solidFill>
          <a:ln w="12700">
            <a:solidFill>
              <a:srgbClr val="0E7C86"/>
            </a:solidFill>
            <a:prstDash val="solid"/>
          </a:ln>
        </p:spPr>
        <p:txBody>
          <a:bodyPr/>
          <a:lstStyle/>
          <a:p>
            <a:endParaRPr lang="fr-FR"/>
          </a:p>
        </p:txBody>
      </p:sp>
      <p:sp>
        <p:nvSpPr>
          <p:cNvPr id="17" name="Text 15"/>
          <p:cNvSpPr txBox="1"/>
          <p:nvPr/>
        </p:nvSpPr>
        <p:spPr>
          <a:xfrm>
            <a:off x="594360" y="5157216"/>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1435608" y="5102352"/>
            <a:ext cx="10058400" cy="384048"/>
          </a:xfrm>
          <a:prstGeom prst="rect">
            <a:avLst/>
          </a:prstGeom>
          <a:noFill/>
          <a:ln/>
        </p:spPr>
        <p:txBody>
          <a:bodyPr wrap="square" lIns="0" tIns="0" rIns="0" bIns="0" rtlCol="0" anchor="ctr"/>
          <a:lstStyle/>
          <a:p>
            <a:pPr marL="0" indent="0">
              <a:buNone/>
            </a:pPr>
            <a:r>
              <a:rPr lang="en-US" sz="1600" b="1" dirty="0">
                <a:solidFill>
                  <a:srgbClr val="16232B"/>
                </a:solidFill>
                <a:latin typeface="Calibri" pitchFamily="34" charset="0"/>
                <a:ea typeface="Calibri" pitchFamily="34" charset="-122"/>
                <a:cs typeface="Calibri" pitchFamily="34" charset="-120"/>
              </a:rPr>
              <a:t>Suggérer des ingrédients complémentaires au panier.</a:t>
            </a:r>
            <a:endParaRPr lang="en-US" sz="1600" dirty="0"/>
          </a:p>
        </p:txBody>
      </p:sp>
      <p:sp>
        <p:nvSpPr>
          <p:cNvPr id="19" name="Text 17"/>
          <p:cNvSpPr txBox="1"/>
          <p:nvPr/>
        </p:nvSpPr>
        <p:spPr>
          <a:xfrm>
            <a:off x="1435608" y="5486400"/>
            <a:ext cx="10058400" cy="658368"/>
          </a:xfrm>
          <a:prstGeom prst="rect">
            <a:avLst/>
          </a:prstGeom>
          <a:noFill/>
          <a:ln/>
        </p:spPr>
        <p:txBody>
          <a:bodyPr wrap="square" lIns="0" tIns="0" rIns="0" bIns="0" rtlCol="0" anchor="t"/>
          <a:lstStyle/>
          <a:p>
            <a:pPr marL="0" indent="0">
              <a:lnSpc>
                <a:spcPct val="110000"/>
              </a:lnSpc>
              <a:buNone/>
            </a:pPr>
            <a:r>
              <a:rPr lang="en-US" sz="1250" dirty="0">
                <a:solidFill>
                  <a:srgbClr val="5D6B75"/>
                </a:solidFill>
                <a:latin typeface="Calibri" pitchFamily="34" charset="0"/>
                <a:ea typeface="Calibri" pitchFamily="34" charset="-122"/>
                <a:cs typeface="Calibri" pitchFamily="34" charset="-120"/>
              </a:rPr>
              <a:t>Puisque le panier ne grossit jamais, la recette est le seul canal mesuré par lequel une nouveauté y entre.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0A5A62"/>
        </a:solidFill>
        <a:effectLst/>
      </p:bgPr>
    </p:bg>
    <p:spTree>
      <p:nvGrpSpPr>
        <p:cNvPr id="1" name=""/>
        <p:cNvGrpSpPr/>
        <p:nvPr/>
      </p:nvGrpSpPr>
      <p:grpSpPr>
        <a:xfrm>
          <a:off x="0" y="0"/>
          <a:ext cx="0" cy="0"/>
          <a:chOff x="0" y="0"/>
          <a:chExt cx="0" cy="0"/>
        </a:xfrm>
      </p:grpSpPr>
      <p:sp>
        <p:nvSpPr>
          <p:cNvPr id="2" name="Text 0"/>
          <p:cNvSpPr txBox="1"/>
          <p:nvPr/>
        </p:nvSpPr>
        <p:spPr>
          <a:xfrm>
            <a:off x="594360" y="1920240"/>
            <a:ext cx="10424160" cy="13716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L'habitude est le produit.</a:t>
            </a:r>
            <a:endParaRPr lang="en-US" sz="4600" dirty="0"/>
          </a:p>
        </p:txBody>
      </p:sp>
      <p:sp>
        <p:nvSpPr>
          <p:cNvPr id="3" name="Text 1"/>
          <p:cNvSpPr txBox="1"/>
          <p:nvPr/>
        </p:nvSpPr>
        <p:spPr>
          <a:xfrm>
            <a:off x="594360" y="3429000"/>
            <a:ext cx="9509760" cy="1188720"/>
          </a:xfrm>
          <a:prstGeom prst="rect">
            <a:avLst/>
          </a:prstGeom>
          <a:noFill/>
          <a:ln/>
        </p:spPr>
        <p:txBody>
          <a:bodyPr wrap="square" lIns="0" tIns="0" rIns="0" bIns="0" rtlCol="0" anchor="ctr"/>
          <a:lstStyle/>
          <a:p>
            <a:pPr marL="0" indent="0">
              <a:lnSpc>
                <a:spcPct val="125000"/>
              </a:lnSpc>
              <a:buNone/>
            </a:pPr>
            <a:r>
              <a:rPr lang="en-US" sz="1600" dirty="0">
                <a:solidFill>
                  <a:srgbClr val="C3DDE0"/>
                </a:solidFill>
                <a:latin typeface="Calibri" pitchFamily="34" charset="0"/>
                <a:ea typeface="Calibri" pitchFamily="34" charset="-122"/>
                <a:cs typeface="Calibri" pitchFamily="34" charset="-120"/>
              </a:rPr>
              <a:t>La croissance ne viendra pas d'un panier plus gros — les données montrent qu'il ne bouge pas.</a:t>
            </a:r>
            <a:endParaRPr lang="en-US" sz="1600" dirty="0"/>
          </a:p>
          <a:p>
            <a:pPr marL="0" indent="0">
              <a:lnSpc>
                <a:spcPct val="125000"/>
              </a:lnSpc>
              <a:buNone/>
            </a:pPr>
            <a:r>
              <a:rPr lang="en-US" sz="1600" dirty="0">
                <a:solidFill>
                  <a:srgbClr val="C3DDE0"/>
                </a:solidFill>
                <a:latin typeface="Calibri" pitchFamily="34" charset="0"/>
                <a:ea typeface="Calibri" pitchFamily="34" charset="-122"/>
                <a:cs typeface="Calibri" pitchFamily="34" charset="-120"/>
              </a:rPr>
              <a:t>Elle viendra d'une habitude installée </a:t>
            </a:r>
            <a:endParaRPr lang="en-US" sz="1600" dirty="0"/>
          </a:p>
          <a:p>
            <a:pPr marL="0" indent="0">
              <a:lnSpc>
                <a:spcPct val="125000"/>
              </a:lnSpc>
              <a:buNone/>
            </a:pPr>
            <a:r>
              <a:rPr lang="en-US" sz="1600" b="1" dirty="0">
                <a:solidFill>
                  <a:srgbClr val="7FD3DB"/>
                </a:solidFill>
                <a:latin typeface="Calibri" pitchFamily="34" charset="0"/>
                <a:ea typeface="Calibri" pitchFamily="34" charset="-122"/>
                <a:cs typeface="Calibri" pitchFamily="34" charset="-120"/>
              </a:rPr>
              <a:t>plus tôt</a:t>
            </a:r>
            <a:r>
              <a:rPr lang="en-US" sz="1600" dirty="0">
                <a:solidFill>
                  <a:srgbClr val="C3DDE0"/>
                </a:solidFill>
                <a:latin typeface="Calibri" pitchFamily="34" charset="0"/>
                <a:ea typeface="Calibri" pitchFamily="34" charset="-122"/>
                <a:cs typeface="Calibri" pitchFamily="34" charset="-120"/>
              </a:rPr>
              <a:t> et </a:t>
            </a:r>
            <a:r>
              <a:rPr lang="en-US" sz="1600" b="1" dirty="0">
                <a:solidFill>
                  <a:srgbClr val="7FD3DB"/>
                </a:solidFill>
                <a:latin typeface="Calibri" pitchFamily="34" charset="0"/>
                <a:ea typeface="Calibri" pitchFamily="34" charset="-122"/>
                <a:cs typeface="Calibri" pitchFamily="34" charset="-120"/>
              </a:rPr>
              <a:t>plus large</a:t>
            </a:r>
            <a:r>
              <a:rPr lang="en-US" sz="1600" dirty="0">
                <a:solidFill>
                  <a:srgbClr val="C3DDE0"/>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2850</Words>
  <Application>Microsoft Office PowerPoint</Application>
  <PresentationFormat>Grand écran</PresentationFormat>
  <Paragraphs>142</Paragraphs>
  <Slides>16</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Cambria</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Joja — Vendre l'habitude</dc:title>
  <dc:subject>PptxGenJS Presentation</dc:subject>
  <dc:creator>T-DAT-600</dc:creator>
  <cp:lastModifiedBy>victor mathieu</cp:lastModifiedBy>
  <cp:revision>2</cp:revision>
  <dcterms:created xsi:type="dcterms:W3CDTF">2026-09-02T09:08:21Z</dcterms:created>
  <dcterms:modified xsi:type="dcterms:W3CDTF">2026-09-04T12:00:00Z</dcterms:modified>
</cp:coreProperties>
</file>